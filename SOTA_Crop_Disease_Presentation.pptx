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228B22"/>
                </a:solidFill>
              </a:defRPr>
            </a:pPr>
            <a:r>
              <a:t>State-of-the-Art Crop Disease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Elite Deep Learning Pipeline Powered by EfficientNetV2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28B22"/>
                </a:solidFill>
              </a:defRPr>
            </a:pPr>
            <a:r>
              <a:t>The Foundation: Massive Dataset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Migrated to the comprehensive 'New Plant Diseases Dataset'.</a:t>
            </a:r>
          </a:p>
          <a:p>
            <a:pPr>
              <a:spcAft>
                <a:spcPts val="1000"/>
              </a:spcAft>
              <a:defRPr sz="1800"/>
            </a:pPr>
            <a:r>
              <a:t>Scale: Over 87,000 distinct images.</a:t>
            </a:r>
          </a:p>
          <a:p>
            <a:pPr>
              <a:spcAft>
                <a:spcPts val="1000"/>
              </a:spcAft>
              <a:defRPr sz="1800"/>
            </a:pPr>
            <a:r>
              <a:t>Diversity: 38 full classes (Apples, Cherries, Corn, Grapes, Peaches, Tomatoes, etc.).</a:t>
            </a:r>
          </a:p>
          <a:p>
            <a:pPr>
              <a:spcAft>
                <a:spcPts val="1000"/>
              </a:spcAft>
              <a:defRPr sz="1800"/>
            </a:pPr>
            <a:r>
              <a:t>Pipeline: Fully automated, randomized splitting (80% Train, 10% Val, 10% Test).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28B22"/>
                </a:solidFill>
              </a:defRPr>
            </a:pPr>
            <a:r>
              <a:t>Why EfficientNetV2 Beats the Competition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ResNet-50 / 101: Older architecture, massive parameter counts, plateaus early on complex flora datasets.</a:t>
            </a:r>
          </a:p>
          <a:p>
            <a:pPr>
              <a:spcAft>
                <a:spcPts val="1000"/>
              </a:spcAft>
              <a:defRPr sz="1800"/>
            </a:pPr>
            <a:r>
              <a:t>Vision Transformers (ViT): Highly accurate but requires massive data (300M+ images) to avoid overfitting, incredibly slow inference.</a:t>
            </a:r>
          </a:p>
          <a:p>
            <a:pPr>
              <a:spcAft>
                <a:spcPts val="1000"/>
              </a:spcAft>
              <a:defRPr sz="1800"/>
            </a:pPr>
            <a:r>
              <a:t>EfficientNet-V1: Scales poorly due to extensive depthwise convolutions causing memory bottlenecks.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28B22"/>
                </a:solidFill>
              </a:defRPr>
            </a:pPr>
            <a:r>
              <a:t>The EfficientNetV2-S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Fused-MBConv Layers: Replaces early depthwise convolutions, dramatically speeding up training on modern GPUs.</a:t>
            </a:r>
          </a:p>
          <a:p>
            <a:pPr>
              <a:spcAft>
                <a:spcPts val="1000"/>
              </a:spcAft>
              <a:defRPr sz="1800"/>
            </a:pPr>
            <a:r>
              <a:t>Training-Aware NAS: The network was explicitly designed via Neural Architecture Search to optimize BOTH accuracy and training speed.</a:t>
            </a:r>
          </a:p>
          <a:p>
            <a:pPr>
              <a:spcAft>
                <a:spcPts val="1000"/>
              </a:spcAft>
              <a:defRPr sz="1800"/>
            </a:pPr>
            <a:r>
              <a:t>Progressive Learning: Dynamically adjusts regularization during training, preventing bottlenecks.</a:t>
            </a:r>
          </a:p>
          <a:p>
            <a:pPr>
              <a:spcAft>
                <a:spcPts val="1000"/>
              </a:spcAft>
              <a:defRPr sz="1800"/>
            </a:pPr>
            <a:r>
              <a:t>Result: Higher Top-1 Accuracy with 50% fewer parameters than ResNet-101.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28B22"/>
                </a:solidFill>
              </a:defRPr>
            </a:pPr>
            <a:r>
              <a:t>SOTA Training Pipeline Mechanics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AMP (Automatic Mixed Precision): Tensor cores calculate in 16-bit, cutting VRAM overhead in half.</a:t>
            </a:r>
          </a:p>
          <a:p>
            <a:pPr>
              <a:spcAft>
                <a:spcPts val="1000"/>
              </a:spcAft>
              <a:defRPr sz="1800"/>
            </a:pPr>
            <a:r>
              <a:t>OneCycleLR Scheduler: Starts low, arcs high, decays low. Forces the model out of local minima rapidly.</a:t>
            </a:r>
          </a:p>
          <a:p>
            <a:pPr>
              <a:spcAft>
                <a:spcPts val="1000"/>
              </a:spcAft>
              <a:defRPr sz="1800"/>
            </a:pPr>
            <a:r>
              <a:t>Label Smoothing (0.1): Hard targets (1.0) become soft (0.9), forcing the model to generalize rather than memorize.</a:t>
            </a:r>
          </a:p>
          <a:p>
            <a:pPr>
              <a:spcAft>
                <a:spcPts val="1000"/>
              </a:spcAft>
              <a:defRPr sz="1800"/>
            </a:pPr>
            <a:r>
              <a:t>AdamW: Fixes the mathematical flaw in standard Adam's weight decay, crucial for modern architectures.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28B22"/>
                </a:solidFill>
              </a:defRPr>
            </a:pPr>
            <a:r>
              <a:t>Seamless Web Application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Caching Optimization: Model is pinned in VRAM globally via '@st.cache_resource', enabling sub-second inference.</a:t>
            </a:r>
          </a:p>
          <a:p>
            <a:pPr>
              <a:spcAft>
                <a:spcPts val="1000"/>
              </a:spcAft>
              <a:defRPr sz="1800"/>
            </a:pPr>
            <a:r>
              <a:t>No-Grad Inference: Forward passes bypass the autograd engine entirely, saving extreme computational overhead.</a:t>
            </a:r>
          </a:p>
          <a:p>
            <a:pPr>
              <a:spcAft>
                <a:spcPts val="1000"/>
              </a:spcAft>
              <a:defRPr sz="1800"/>
            </a:pPr>
            <a:r>
              <a:t>Interactive UI: Dynamic, real-time confidence bar charting utilizing raw softmax probability logits.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