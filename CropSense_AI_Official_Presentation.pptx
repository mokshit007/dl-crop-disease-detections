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731520"/>
            <a:ext cx="2743200" cy="34747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1F5F9"/>
                </a:solidFill>
              </a:rPr>
              <a:t>DEEP LEARNING RESEARCH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25880"/>
            <a:ext cx="106984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>
                <a:solidFill>
                  <a:srgbClr val="F1F5F9"/>
                </a:solidFill>
              </a:rPr>
              <a:t>CropSense AI: Multi-Scale Crop Disease Detection</a:t>
            </a:r>
          </a:p>
          <a:p>
            <a:pPr algn="l">
              <a:lnSpc>
                <a:spcPct val="105000"/>
              </a:lnSpc>
              <a:spcBef>
                <a:spcPts val="1400"/>
              </a:spcBef>
            </a:pPr>
            <a:r>
              <a:rPr sz="2000" b="0">
                <a:solidFill>
                  <a:srgbClr val="94A3B8"/>
                </a:solidFill>
              </a:rPr>
              <a:t>EfficientNetV2-MSAF: Multi-Scale Attention Fusion with CBAM and GeM pooling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3035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94A3B8"/>
                </a:solidFill>
              </a:rPr>
              <a:t>Proposed system = EfficientNetV2-MSAF + field-augmented training. Robustness comes mainly from the augmentation; calibration and field-photo gains come from the MSAF architecture.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657600"/>
            <a:ext cx="2514600" cy="1508760"/>
          </a:xfrm>
          <a:prstGeom prst="roundRect">
            <a:avLst>
              <a:gd name="adj" fmla="val 7272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822191"/>
            <a:ext cx="2103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10B981"/>
                </a:solidFill>
              </a:rPr>
              <a:t>82.2 -&gt; 94.8%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100" b="0">
                <a:solidFill>
                  <a:srgbClr val="CBD5E1"/>
                </a:solidFill>
              </a:rPr>
              <a:t>Accuracy under 6 field corruptions
(proposed system vs. original)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3657600"/>
            <a:ext cx="2514600" cy="1508760"/>
          </a:xfrm>
          <a:prstGeom prst="roundRect">
            <a:avLst>
              <a:gd name="adj" fmla="val 7272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3822191"/>
            <a:ext cx="2103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60A5FA"/>
                </a:solidFill>
              </a:rPr>
              <a:t>10.6 -&gt; 5.5%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100" b="0">
                <a:solidFill>
                  <a:srgbClr val="CBD5E1"/>
                </a:solidFill>
              </a:rPr>
              <a:t>Calibration error (ECE)
vs. original EfficientNetV2-S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3657600"/>
            <a:ext cx="2514600" cy="1508760"/>
          </a:xfrm>
          <a:prstGeom prst="roundRect">
            <a:avLst>
              <a:gd name="adj" fmla="val 7272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3822191"/>
            <a:ext cx="2103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FBBF24"/>
                </a:solidFill>
              </a:rPr>
              <a:t>8 / 8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100" b="0">
                <a:solidFill>
                  <a:srgbClr val="CBD5E1"/>
                </a:solidFill>
              </a:rPr>
              <a:t>Real field photos correct
(original 6 / 8)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3657600"/>
            <a:ext cx="2514600" cy="1508760"/>
          </a:xfrm>
          <a:prstGeom prst="roundRect">
            <a:avLst>
              <a:gd name="adj" fmla="val 7272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52560" y="3822191"/>
            <a:ext cx="2103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A78BFA"/>
                </a:solidFill>
              </a:rPr>
              <a:t>99.56%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100" b="0">
                <a:solidFill>
                  <a:srgbClr val="CBD5E1"/>
                </a:solidFill>
              </a:rPr>
              <a:t>Clean test accuracy
(+1.1% parameters)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94A3B8"/>
                </a:solidFill>
              </a:rPr>
              <a:t>38 classes  |  14 crops  |  Grad-CAM explainability  |  Leaf gatekeeper  |  Severity estimate  |  Streamlit 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64748B"/>
                </a:solidFill>
              </a:rPr>
              <a:t>CropSense AI  |  EfficientNetV2-MSAF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64748B"/>
                </a:solidFill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059669"/>
                </a:solidFill>
              </a:rPr>
              <a:t>PROBLEM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0F172A"/>
                </a:solidFill>
              </a:rPr>
              <a:t>Drawbacks of the existing model, measured on our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257800" cy="2212848"/>
          </a:xfrm>
          <a:prstGeom prst="roundRect">
            <a:avLst>
              <a:gd name="adj" fmla="val 4958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18488"/>
            <a:ext cx="54864" cy="1993391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709928"/>
            <a:ext cx="4800600" cy="1892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DC2626"/>
                </a:solidFill>
              </a:rPr>
              <a:t>1. Single-scale decision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500" b="0">
                <a:solidFill>
                  <a:srgbClr val="334155"/>
                </a:solidFill>
              </a:rPr>
              <a:t>The classifier only sees the final 7x7 feature map: each cell covers 32x32 px of a 224 px leaf.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500" b="0">
                <a:solidFill>
                  <a:srgbClr val="334155"/>
                </a:solidFill>
              </a:rPr>
              <a:t>Pin-point lesions (bacterial spot, Septoria specks, mite stippling) are averaged into a few cells.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508760"/>
            <a:ext cx="5257800" cy="2212848"/>
          </a:xfrm>
          <a:prstGeom prst="roundRect">
            <a:avLst>
              <a:gd name="adj" fmla="val 4958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1618488"/>
            <a:ext cx="54864" cy="1993391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709928"/>
            <a:ext cx="4800600" cy="1892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D97706"/>
                </a:solidFill>
              </a:rPr>
              <a:t>2. Average pooling dilutes lesions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500" b="0">
                <a:solidFill>
                  <a:srgbClr val="334155"/>
                </a:solidFill>
              </a:rPr>
              <a:t>Global average pooling weights a lesion covering 5% of the leaf at 5% of the descriptor.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500" b="0">
                <a:solidFill>
                  <a:srgbClr val="334155"/>
                </a:solidFill>
              </a:rPr>
              <a:t>Healthy tissue and backdrop dominate the feature vector.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04487"/>
            <a:ext cx="5257800" cy="2212848"/>
          </a:xfrm>
          <a:prstGeom prst="roundRect">
            <a:avLst>
              <a:gd name="adj" fmla="val 4958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014215"/>
            <a:ext cx="54864" cy="1993391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105655"/>
            <a:ext cx="4800600" cy="1892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DC2626"/>
                </a:solidFill>
              </a:rPr>
              <a:t>3. Fragile under field conditions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500" b="0">
                <a:solidFill>
                  <a:srgbClr val="334155"/>
                </a:solidFill>
              </a:rPr>
              <a:t>Leaf-disjoint test: 99.62% clean, but 54.5% under motion blur and 82.2% mean over 6 corruptions.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500" b="0">
                <a:solidFill>
                  <a:srgbClr val="334155"/>
                </a:solidFill>
              </a:rPr>
              <a:t>Real field photos: only 71% mean confidence in the correct class.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904487"/>
            <a:ext cx="5257800" cy="2212848"/>
          </a:xfrm>
          <a:prstGeom prst="roundRect">
            <a:avLst>
              <a:gd name="adj" fmla="val 4958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4014215"/>
            <a:ext cx="54864" cy="1993391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4105655"/>
            <a:ext cx="4800600" cy="1892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D97706"/>
                </a:solidFill>
              </a:rPr>
              <a:t>4. Evaluation flaw in the original split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500" b="0">
                <a:solidFill>
                  <a:srgbClr val="334155"/>
                </a:solidFill>
              </a:rPr>
              <a:t>67.5% of test images were rotated / flipped copies of training leaves.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500" b="0">
                <a:solidFill>
                  <a:srgbClr val="334155"/>
                </a:solidFill>
              </a:rPr>
              <a:t>Clean accuracy is saturated (99.9%), so it cannot show any architectural gain on its own.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64748B"/>
                </a:solidFill>
              </a:rPr>
              <a:t>CropSense AI  |  EfficientNetV2-MSAF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64748B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059669"/>
                </a:solidFill>
              </a:rPr>
              <a:t>PROPOSED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0F172A"/>
                </a:solidFill>
              </a:rPr>
              <a:t>EfficientNetV2-MSAF: Multi-Scale Attention Fusion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16002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1">
                <a:solidFill>
                  <a:srgbClr val="0F172A"/>
                </a:solidFill>
              </a:rPr>
              <a:t>Input</a:t>
            </a:r>
          </a:p>
          <a:p>
            <a:pPr algn="ctr"/>
            <a:r>
              <a:rPr sz="900">
                <a:solidFill>
                  <a:srgbClr val="64748B"/>
                </a:solidFill>
              </a:rPr>
              <a:t>3x224x224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06040" y="1554480"/>
            <a:ext cx="16002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1">
                <a:solidFill>
                  <a:srgbClr val="0F172A"/>
                </a:solidFill>
              </a:rPr>
              <a:t>Stem + Stage 1-2</a:t>
            </a:r>
          </a:p>
          <a:p>
            <a:pPr algn="ctr"/>
            <a:r>
              <a:rPr sz="900">
                <a:solidFill>
                  <a:srgbClr val="64748B"/>
                </a:solidFill>
              </a:rPr>
              <a:t>Fused-MBConv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554480"/>
            <a:ext cx="16002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1">
                <a:solidFill>
                  <a:srgbClr val="0F172A"/>
                </a:solidFill>
              </a:rPr>
              <a:t>Stage 3</a:t>
            </a:r>
          </a:p>
          <a:p>
            <a:pPr algn="ctr"/>
            <a:r>
              <a:rPr sz="900">
                <a:solidFill>
                  <a:srgbClr val="64748B"/>
                </a:solidFill>
              </a:rPr>
              <a:t>64 x 28x28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1554480"/>
            <a:ext cx="16002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1">
                <a:solidFill>
                  <a:srgbClr val="0F172A"/>
                </a:solidFill>
              </a:rPr>
              <a:t>Stage 4-5</a:t>
            </a:r>
          </a:p>
          <a:p>
            <a:pPr algn="ctr"/>
            <a:r>
              <a:rPr sz="900">
                <a:solidFill>
                  <a:srgbClr val="64748B"/>
                </a:solidFill>
              </a:rPr>
              <a:t>160 x 14x14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554480"/>
            <a:ext cx="16002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1">
                <a:solidFill>
                  <a:srgbClr val="0F172A"/>
                </a:solidFill>
              </a:rPr>
              <a:t>Stage 6 + Head</a:t>
            </a:r>
          </a:p>
          <a:p>
            <a:pPr algn="ctr"/>
            <a:r>
              <a:rPr sz="900">
                <a:solidFill>
                  <a:srgbClr val="64748B"/>
                </a:solidFill>
              </a:rPr>
              <a:t>1280 x 7x7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31720" y="1920240"/>
            <a:ext cx="274320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206240" y="1920240"/>
            <a:ext cx="274320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80760" y="1920240"/>
            <a:ext cx="274320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955279" y="1920240"/>
            <a:ext cx="274321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058400" y="1600200"/>
            <a:ext cx="1463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4748B"/>
                </a:solidFill>
              </a:rPr>
              <a:t>EfficientNetV2-S backbone (ImageNet-pretrained)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280660" y="2286000"/>
            <a:ext cx="0" cy="411480"/>
          </a:xfrm>
          <a:prstGeom prst="line">
            <a:avLst/>
          </a:prstGeom>
          <a:ln w="1905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480560" y="2697480"/>
            <a:ext cx="1600200" cy="566928"/>
          </a:xfrm>
          <a:prstGeom prst="roundRect">
            <a:avLst>
              <a:gd name="adj" fmla="val 12903"/>
            </a:avLst>
          </a:prstGeom>
          <a:solidFill>
            <a:srgbClr val="EFF6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1">
                <a:solidFill>
                  <a:srgbClr val="2563EB"/>
                </a:solidFill>
              </a:rPr>
              <a:t>CBAM</a:t>
            </a:r>
          </a:p>
          <a:p>
            <a:pPr algn="ctr"/>
            <a:r>
              <a:rPr sz="900">
                <a:solidFill>
                  <a:srgbClr val="64748B"/>
                </a:solidFill>
              </a:rPr>
              <a:t>fine: small lesions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280660" y="3264408"/>
            <a:ext cx="0" cy="256032"/>
          </a:xfrm>
          <a:prstGeom prst="line">
            <a:avLst/>
          </a:prstGeom>
          <a:ln w="1905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480560" y="3520440"/>
            <a:ext cx="1600200" cy="566928"/>
          </a:xfrm>
          <a:prstGeom prst="roundRect">
            <a:avLst>
              <a:gd name="adj" fmla="val 12903"/>
            </a:avLst>
          </a:prstGeom>
          <a:solidFill>
            <a:srgbClr val="ECFDF5"/>
          </a:solidFill>
          <a:ln w="15875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1">
                <a:solidFill>
                  <a:srgbClr val="059669"/>
                </a:solidFill>
              </a:rPr>
              <a:t>GeM + LayerNorm</a:t>
            </a:r>
          </a:p>
          <a:p>
            <a:pPr algn="ctr"/>
            <a:r>
              <a:rPr sz="900">
                <a:solidFill>
                  <a:srgbClr val="64748B"/>
                </a:solidFill>
              </a:rPr>
              <a:t>learnable p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280660" y="4087368"/>
            <a:ext cx="0" cy="347472"/>
          </a:xfrm>
          <a:prstGeom prst="line">
            <a:avLst/>
          </a:prstGeom>
          <a:ln w="1905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155180" y="2286000"/>
            <a:ext cx="0" cy="411480"/>
          </a:xfrm>
          <a:prstGeom prst="line">
            <a:avLst/>
          </a:prstGeom>
          <a:ln w="1905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355080" y="2697480"/>
            <a:ext cx="1600200" cy="566928"/>
          </a:xfrm>
          <a:prstGeom prst="roundRect">
            <a:avLst>
              <a:gd name="adj" fmla="val 12903"/>
            </a:avLst>
          </a:prstGeom>
          <a:solidFill>
            <a:srgbClr val="EFF6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1">
                <a:solidFill>
                  <a:srgbClr val="2563EB"/>
                </a:solidFill>
              </a:rPr>
              <a:t>CBAM</a:t>
            </a:r>
          </a:p>
          <a:p>
            <a:pPr algn="ctr"/>
            <a:r>
              <a:rPr sz="900">
                <a:solidFill>
                  <a:srgbClr val="64748B"/>
                </a:solidFill>
              </a:rPr>
              <a:t>mid: lesion clusters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155180" y="3264408"/>
            <a:ext cx="0" cy="256032"/>
          </a:xfrm>
          <a:prstGeom prst="line">
            <a:avLst/>
          </a:prstGeom>
          <a:ln w="1905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355080" y="3520440"/>
            <a:ext cx="1600200" cy="566928"/>
          </a:xfrm>
          <a:prstGeom prst="roundRect">
            <a:avLst>
              <a:gd name="adj" fmla="val 12903"/>
            </a:avLst>
          </a:prstGeom>
          <a:solidFill>
            <a:srgbClr val="ECFDF5"/>
          </a:solidFill>
          <a:ln w="15875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1">
                <a:solidFill>
                  <a:srgbClr val="059669"/>
                </a:solidFill>
              </a:rPr>
              <a:t>GeM + LayerNorm</a:t>
            </a:r>
          </a:p>
          <a:p>
            <a:pPr algn="ctr"/>
            <a:r>
              <a:rPr sz="900">
                <a:solidFill>
                  <a:srgbClr val="64748B"/>
                </a:solidFill>
              </a:rPr>
              <a:t>learnable p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155180" y="4087368"/>
            <a:ext cx="0" cy="347472"/>
          </a:xfrm>
          <a:prstGeom prst="line">
            <a:avLst/>
          </a:prstGeom>
          <a:ln w="1905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029700" y="2286000"/>
            <a:ext cx="0" cy="411480"/>
          </a:xfrm>
          <a:prstGeom prst="line">
            <a:avLst/>
          </a:prstGeom>
          <a:ln w="1905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229600" y="2697480"/>
            <a:ext cx="1600200" cy="566928"/>
          </a:xfrm>
          <a:prstGeom prst="roundRect">
            <a:avLst>
              <a:gd name="adj" fmla="val 12903"/>
            </a:avLst>
          </a:prstGeom>
          <a:solidFill>
            <a:srgbClr val="EFF6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1">
                <a:solidFill>
                  <a:srgbClr val="2563EB"/>
                </a:solidFill>
              </a:rPr>
              <a:t>CBAM</a:t>
            </a:r>
          </a:p>
          <a:p>
            <a:pPr algn="ctr"/>
            <a:r>
              <a:rPr sz="900">
                <a:solidFill>
                  <a:srgbClr val="64748B"/>
                </a:solidFill>
              </a:rPr>
              <a:t>coarse: leaf pattern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029700" y="3264408"/>
            <a:ext cx="0" cy="256032"/>
          </a:xfrm>
          <a:prstGeom prst="line">
            <a:avLst/>
          </a:prstGeom>
          <a:ln w="1905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229600" y="3520440"/>
            <a:ext cx="1600200" cy="566928"/>
          </a:xfrm>
          <a:prstGeom prst="roundRect">
            <a:avLst>
              <a:gd name="adj" fmla="val 12903"/>
            </a:avLst>
          </a:prstGeom>
          <a:solidFill>
            <a:srgbClr val="ECFDF5"/>
          </a:solidFill>
          <a:ln w="15875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1">
                <a:solidFill>
                  <a:srgbClr val="059669"/>
                </a:solidFill>
              </a:rPr>
              <a:t>GeM + LayerNorm</a:t>
            </a:r>
          </a:p>
          <a:p>
            <a:pPr algn="ctr"/>
            <a:r>
              <a:rPr sz="900">
                <a:solidFill>
                  <a:srgbClr val="64748B"/>
                </a:solidFill>
              </a:rPr>
              <a:t>learnable p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029700" y="4087368"/>
            <a:ext cx="0" cy="347472"/>
          </a:xfrm>
          <a:prstGeom prst="line">
            <a:avLst/>
          </a:prstGeom>
          <a:ln w="1905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480560" y="4434840"/>
            <a:ext cx="5349240" cy="566928"/>
          </a:xfrm>
          <a:prstGeom prst="roundRect">
            <a:avLst>
              <a:gd name="adj" fmla="val 12903"/>
            </a:avLst>
          </a:prstGeom>
          <a:solidFill>
            <a:srgbClr val="F5F3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7C3AED"/>
                </a:solidFill>
              </a:rPr>
              <a:t>Concatenate  [64 ; 160 ; 1280] = 1,504-d   +   scale-dropout (training)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155180" y="5001768"/>
            <a:ext cx="0" cy="256032"/>
          </a:xfrm>
          <a:prstGeom prst="line">
            <a:avLst/>
          </a:prstGeom>
          <a:ln w="19050">
            <a:solidFill>
              <a:srgbClr val="7C3AE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4480560" y="5257800"/>
            <a:ext cx="5349240" cy="548640"/>
          </a:xfrm>
          <a:prstGeom prst="roundRect">
            <a:avLst>
              <a:gd name="adj" fmla="val 13333"/>
            </a:avLst>
          </a:prstGeom>
          <a:solidFill>
            <a:srgbClr val="0F172A"/>
          </a:solidFill>
          <a:ln w="1587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1F5F9"/>
                </a:solidFill>
              </a:rPr>
              <a:t>Dropout(0.3) + Linear(1504 -&gt; 38)  -&gt;  softmax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2697480"/>
            <a:ext cx="3520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DC2626"/>
                </a:solidFill>
              </a:rPr>
              <a:t>Multi-scale taps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100" b="0">
                <a:solidFill>
                  <a:srgbClr val="334155"/>
                </a:solidFill>
              </a:rPr>
              <a:t>targets drawback 1: stage 3 keeps 28x28 detail (8 px per cell)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3474720"/>
            <a:ext cx="3520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2563EB"/>
                </a:solidFill>
              </a:rPr>
              <a:t>CBAM per scale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100" b="0">
                <a:solidFill>
                  <a:srgbClr val="334155"/>
                </a:solidFill>
              </a:rPr>
              <a:t>focuses each scale on lesion channels and positions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4251960"/>
            <a:ext cx="3520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D97706"/>
                </a:solidFill>
              </a:rPr>
              <a:t>GeM pooling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100" b="0">
                <a:solidFill>
                  <a:srgbClr val="334155"/>
                </a:solidFill>
              </a:rPr>
              <a:t>targets drawback 2: emphasises small, strongly activated regions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5029200"/>
            <a:ext cx="3520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7C3AED"/>
                </a:solidFill>
              </a:rPr>
              <a:t>Scale-dropout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100" b="0">
                <a:solidFill>
                  <a:srgbClr val="334155"/>
                </a:solidFill>
              </a:rPr>
              <a:t>targets drawback 3: drops whole scales so no single scale is relied 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8400" y="4480560"/>
            <a:ext cx="1554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059669"/>
                </a:solidFill>
              </a:rPr>
              <a:t>+220,841 params
(+1.09%)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64748B"/>
                </a:solidFill>
              </a:rPr>
              <a:t>CropSense AI  |  EfficientNetV2-MSAF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64748B"/>
                </a:solidFill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059669"/>
                </a:solidFill>
              </a:rPr>
              <a:t>MATHEMATICAL FORMULATION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0F172A"/>
                </a:solidFill>
              </a:rPr>
              <a:t>Attention, pooling and multi-scale fusion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257800" cy="2212848"/>
          </a:xfrm>
          <a:prstGeom prst="roundRect">
            <a:avLst>
              <a:gd name="adj" fmla="val 4958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18488"/>
            <a:ext cx="54864" cy="1993391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691639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2563EB"/>
                </a:solidFill>
              </a:rPr>
              <a:t>Channel attention</a:t>
            </a:r>
          </a:p>
        </p:txBody>
      </p:sp>
      <p:pic>
        <p:nvPicPr>
          <p:cNvPr id="9" name="Picture 8" descr="eq_channel_atten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133474"/>
            <a:ext cx="4754880" cy="86283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05840" y="3081528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334155"/>
                </a:solidFill>
              </a:rPr>
              <a:t>Which feature channels respond to lesions (avg + max descriptors, shared MLP).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508760"/>
            <a:ext cx="5257800" cy="2212848"/>
          </a:xfrm>
          <a:prstGeom prst="roundRect">
            <a:avLst>
              <a:gd name="adj" fmla="val 4958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1618488"/>
            <a:ext cx="54864" cy="1993391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691639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059669"/>
                </a:solidFill>
              </a:rPr>
              <a:t>Spatial attention</a:t>
            </a:r>
          </a:p>
        </p:txBody>
      </p:sp>
      <p:pic>
        <p:nvPicPr>
          <p:cNvPr id="14" name="Picture 13" descr="eq_spatial_atten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2626" y="2130552"/>
            <a:ext cx="4602667" cy="8686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46520" y="3081528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334155"/>
                </a:solidFill>
              </a:rPr>
              <a:t>Where on the leaf the lesions are (7x7 conv over channel-pooled maps).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904487"/>
            <a:ext cx="5257800" cy="2212848"/>
          </a:xfrm>
          <a:prstGeom prst="roundRect">
            <a:avLst>
              <a:gd name="adj" fmla="val 4958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4014215"/>
            <a:ext cx="54864" cy="1993391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08736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D97706"/>
                </a:solidFill>
              </a:rPr>
              <a:t>Generalized-mean pooling</a:t>
            </a:r>
          </a:p>
        </p:txBody>
      </p:sp>
      <p:pic>
        <p:nvPicPr>
          <p:cNvPr id="19" name="Picture 18" descr="eq_gem_pool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4559383"/>
            <a:ext cx="4754880" cy="80247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05840" y="5477255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334155"/>
                </a:solidFill>
              </a:rPr>
              <a:t>Learnable p sits between average and max pooling; learned per scale.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904487"/>
            <a:ext cx="5257800" cy="2212848"/>
          </a:xfrm>
          <a:prstGeom prst="roundRect">
            <a:avLst>
              <a:gd name="adj" fmla="val 4958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014215"/>
            <a:ext cx="54864" cy="1993391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08736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7C3AED"/>
                </a:solidFill>
              </a:rPr>
              <a:t>Multi-scale fusion</a:t>
            </a:r>
          </a:p>
        </p:txBody>
      </p:sp>
      <p:pic>
        <p:nvPicPr>
          <p:cNvPr id="24" name="Picture 23" descr="eq_msaf_fus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3487" y="4526279"/>
            <a:ext cx="3780945" cy="8686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46520" y="5477255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334155"/>
                </a:solidFill>
              </a:rPr>
              <a:t>Per-scale descriptors are normalised then concatenated before the classifier.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64748B"/>
                </a:solidFill>
              </a:rPr>
              <a:t>CropSense AI  |  EfficientNetV2-MSAF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64748B"/>
                </a:solidFill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059669"/>
                </a:solidFill>
              </a:rPr>
              <a:t>NETWORK SPECIFICATION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0F172A"/>
                </a:solidFill>
              </a:rPr>
              <a:t>EfficientNetV2-MSAF layer and parameter blueprint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63040"/>
          <a:ext cx="10698478" cy="47548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987863"/>
                <a:gridCol w="3180629"/>
                <a:gridCol w="1734888"/>
                <a:gridCol w="1252975"/>
                <a:gridCol w="1542123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defRPr sz="1200" b="1">
                          <a:solidFill>
                            <a:srgbClr val="F1F5F9"/>
                          </a:solidFill>
                        </a:defRPr>
                      </a:pPr>
                      <a:r>
                        <a:t>Block</a:t>
                      </a:r>
                    </a:p>
                  </a:txBody>
                  <a:tcPr marL="73152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1">
                          <a:solidFill>
                            <a:srgbClr val="F1F5F9"/>
                          </a:solidFill>
                        </a:defRPr>
                      </a:pPr>
                      <a:r>
                        <a:t>Operation</a:t>
                      </a:r>
                    </a:p>
                  </a:txBody>
                  <a:tcPr marL="73152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1">
                          <a:solidFill>
                            <a:srgbClr val="F1F5F9"/>
                          </a:solidFill>
                        </a:defRPr>
                      </a:pPr>
                      <a:r>
                        <a:t>Channels</a:t>
                      </a:r>
                    </a:p>
                  </a:txBody>
                  <a:tcPr marL="73152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1">
                          <a:solidFill>
                            <a:srgbClr val="F1F5F9"/>
                          </a:solidFill>
                        </a:defRPr>
                      </a:pPr>
                      <a:r>
                        <a:t>Output</a:t>
                      </a:r>
                    </a:p>
                  </a:txBody>
                  <a:tcPr marL="73152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1">
                          <a:solidFill>
                            <a:srgbClr val="F1F5F9"/>
                          </a:solidFill>
                        </a:defRPr>
                      </a:pPr>
                      <a:r>
                        <a:t>Params</a:t>
                      </a:r>
                    </a:p>
                  </a:txBody>
                  <a:tcPr marL="73152" marR="73152" marT="27432" marB="27432" anchor="ctr"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Stem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Conv 3x3, stride 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3 -&gt; 24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112x112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696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Stage 1 (2 blocks)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Fused-MBConv, stride 1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24 -&gt; 24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112x112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10,464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Stage 2 (4 blocks)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Fused-MBConv, stride 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24 -&gt; 48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56x56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303,552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defRPr sz="1200" b="1">
                          <a:solidFill>
                            <a:srgbClr val="2563EB"/>
                          </a:solidFill>
                        </a:defRPr>
                      </a:pPr>
                      <a:r>
                        <a:t>Stage 3 (4 blocks)  [tap 1]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Fused-MBConv, stride 2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48 -&gt; 64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28x28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589,184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Stage 4 (6 blocks)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MBConv + SE, stride 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64 -&gt; 128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14x14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917,680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defRPr sz="1200" b="1">
                          <a:solidFill>
                            <a:srgbClr val="2563EB"/>
                          </a:solidFill>
                        </a:defRPr>
                      </a:pPr>
                      <a:r>
                        <a:t>Stage 5 (9 blocks)  [tap 2]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MBConv + SE, stride 1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128 -&gt; 160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14x14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3,463,840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Stage 6 (15 blocks)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MBConv + SE, stride 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160 -&gt; 256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7x7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14,561,832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defRPr sz="1200" b="1">
                          <a:solidFill>
                            <a:srgbClr val="2563EB"/>
                          </a:solidFill>
                        </a:defRPr>
                      </a:pPr>
                      <a:r>
                        <a:t>Head conv  [tap 3]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Conv 1x1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256 -&gt; 1280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7x7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330,240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defRPr sz="1200" b="1">
                          <a:solidFill>
                            <a:srgbClr val="059669"/>
                          </a:solidFill>
                        </a:defRPr>
                      </a:pPr>
                      <a:r>
                        <a:t>CBAM x 3 (new)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Channel MLP + 7x7 spatial conv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64 / 160 / 1280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same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209,318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defRPr sz="1200" b="1">
                          <a:solidFill>
                            <a:srgbClr val="059669"/>
                          </a:solidFill>
                        </a:defRPr>
                      </a:pPr>
                      <a:r>
                        <a:t>GeM + LayerNorm x 3 (new)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Learnable-p pooling, per-scale norm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64 / 160 / 1280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1x1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3,011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defRPr sz="1200" b="1">
                          <a:solidFill>
                            <a:srgbClr val="059669"/>
                          </a:solidFill>
                        </a:defRPr>
                      </a:pPr>
                      <a:r>
                        <a:t>Classifier (new)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Dropout 0.3 + Linear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1504 -&gt; 38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38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57,190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defRPr sz="1200" b="1">
                          <a:solidFill>
                            <a:srgbClr val="0F172A"/>
                          </a:solidFill>
                        </a:defRPr>
                      </a:pPr>
                      <a:r>
                        <a:t>Total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</a:defRPr>
                      </a:pPr>
                      <a:r>
                        <a:t>20,447,007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64748B"/>
                </a:solidFill>
              </a:rPr>
              <a:t>CropSense AI  |  EfficientNetV2-MSAF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64748B"/>
                </a:solidFill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059669"/>
                </a:solidFill>
              </a:rPr>
              <a:t>DATA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0F172A"/>
                </a:solidFill>
              </a:rPr>
              <a:t>Leaf-disjoint split: a fair test set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257800" cy="2212848"/>
          </a:xfrm>
          <a:prstGeom prst="roundRect">
            <a:avLst>
              <a:gd name="adj" fmla="val 4958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18488"/>
            <a:ext cx="54864" cy="1993391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709928"/>
            <a:ext cx="4800600" cy="1892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059669"/>
                </a:solidFill>
              </a:rPr>
              <a:t>Dataset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500" b="0">
                <a:solidFill>
                  <a:srgbClr val="334155"/>
                </a:solidFill>
              </a:rPr>
              <a:t>87,867 images, 38 classes, 14 crops (Kaggle 'New Plant Diseases', derived from PlantVillage).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500" b="0">
                <a:solidFill>
                  <a:srgbClr val="334155"/>
                </a:solidFill>
              </a:rPr>
              <a:t>The dataset ships rotated / flipped copies of each photo (e.g. _90deg, _flipTB, _new30degFlipLR).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508760"/>
            <a:ext cx="5257800" cy="2212848"/>
          </a:xfrm>
          <a:prstGeom prst="roundRect">
            <a:avLst>
              <a:gd name="adj" fmla="val 4958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1618488"/>
            <a:ext cx="54864" cy="1993391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709928"/>
            <a:ext cx="4800600" cy="1892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DC2626"/>
                </a:solidFill>
              </a:rPr>
              <a:t>Problem found in the original split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500" b="0">
                <a:solidFill>
                  <a:srgbClr val="334155"/>
                </a:solidFill>
              </a:rPr>
              <a:t>Files were split at random, so copies of one leaf ended up in both train and test.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500" b="0">
                <a:solidFill>
                  <a:srgbClr val="334155"/>
                </a:solidFill>
              </a:rPr>
              <a:t>67.5% of the old test images had a sibling in train/val.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04487"/>
            <a:ext cx="5257800" cy="2212848"/>
          </a:xfrm>
          <a:prstGeom prst="roundRect">
            <a:avLst>
              <a:gd name="adj" fmla="val 4958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014215"/>
            <a:ext cx="54864" cy="1993391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105655"/>
            <a:ext cx="4800600" cy="1892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2563EB"/>
                </a:solidFill>
              </a:rPr>
              <a:t>Fix: group by source leaf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500" b="0">
                <a:solidFill>
                  <a:srgbClr val="334155"/>
                </a:solidFill>
              </a:rPr>
              <a:t>Every copy of a physical leaf is assigned to the same split (80 / 10 / 10 by leaf, seed 42).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500" b="0">
                <a:solidFill>
                  <a:srgbClr val="334155"/>
                </a:solidFill>
              </a:rPr>
              <a:t>Train 70,146  |  Val 8,832  |  Test 8,889 images.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904487"/>
            <a:ext cx="5257800" cy="2212848"/>
          </a:xfrm>
          <a:prstGeom prst="roundRect">
            <a:avLst>
              <a:gd name="adj" fmla="val 4958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4014215"/>
            <a:ext cx="54864" cy="1993391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4105655"/>
            <a:ext cx="4800600" cy="1892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7C3AED"/>
                </a:solidFill>
              </a:rPr>
              <a:t>Same data for every model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500" b="0">
                <a:solidFill>
                  <a:srgbClr val="334155"/>
                </a:solidFill>
              </a:rPr>
              <a:t>All three architectures train and test on this identical split with the identical recipe.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500" b="0">
                <a:solidFill>
                  <a:srgbClr val="334155"/>
                </a:solidFill>
              </a:rPr>
              <a:t>Any difference in the results comes from the architecture alone.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64748B"/>
                </a:solidFill>
              </a:rPr>
              <a:t>CropSense AI  |  EfficientNetV2-MSAF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64748B"/>
                </a:solidFill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059669"/>
                </a:solidFill>
              </a:rPr>
              <a:t>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0F172A"/>
                </a:solidFill>
              </a:rPr>
              <a:t>14 crop species, 38 health and disease classes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2514600" cy="4663440"/>
          </a:xfrm>
          <a:prstGeom prst="roundRect">
            <a:avLst>
              <a:gd name="adj" fmla="val 4363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18488"/>
            <a:ext cx="54864" cy="4443983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691640"/>
            <a:ext cx="210312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059669"/>
                </a:solidFill>
              </a:rPr>
              <a:t>Orchard fruits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</a:pPr>
            <a:r>
              <a:rPr sz="1500" b="1">
                <a:solidFill>
                  <a:srgbClr val="0F172A"/>
                </a:solidFill>
              </a:rPr>
              <a:t>Apple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400" b="0">
                <a:solidFill>
                  <a:srgbClr val="334155"/>
                </a:solidFill>
              </a:rPr>
              <a:t>Scab, Black rot, Cedar apple rust, Healthy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</a:pPr>
            <a:r>
              <a:rPr sz="1500" b="1">
                <a:solidFill>
                  <a:srgbClr val="0F172A"/>
                </a:solidFill>
              </a:rPr>
              <a:t>Cherry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400" b="0">
                <a:solidFill>
                  <a:srgbClr val="334155"/>
                </a:solidFill>
              </a:rPr>
              <a:t>Powdery mildew, Healthy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</a:pPr>
            <a:r>
              <a:rPr sz="1500" b="1">
                <a:solidFill>
                  <a:srgbClr val="0F172A"/>
                </a:solidFill>
              </a:rPr>
              <a:t>Peach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400" b="0">
                <a:solidFill>
                  <a:srgbClr val="334155"/>
                </a:solidFill>
              </a:rPr>
              <a:t>Bacterial spot, Healthy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</a:pPr>
            <a:r>
              <a:rPr sz="1500" b="1">
                <a:solidFill>
                  <a:srgbClr val="0F172A"/>
                </a:solidFill>
              </a:rPr>
              <a:t>Blueberry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400" b="0">
                <a:solidFill>
                  <a:srgbClr val="334155"/>
                </a:solidFill>
              </a:rPr>
              <a:t>Healthy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508760"/>
            <a:ext cx="2514600" cy="4663440"/>
          </a:xfrm>
          <a:prstGeom prst="roundRect">
            <a:avLst>
              <a:gd name="adj" fmla="val 4363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29000" y="1618488"/>
            <a:ext cx="54864" cy="444398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85032" y="1691640"/>
            <a:ext cx="210312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2563EB"/>
                </a:solidFill>
              </a:rPr>
              <a:t>Grains, vines, citrus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</a:pPr>
            <a:r>
              <a:rPr sz="1500" b="1">
                <a:solidFill>
                  <a:srgbClr val="0F172A"/>
                </a:solidFill>
              </a:rPr>
              <a:t>Corn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400" b="0">
                <a:solidFill>
                  <a:srgbClr val="334155"/>
                </a:solidFill>
              </a:rPr>
              <a:t>Gray leaf spot, Common rust, Northern leaf blight, Healthy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</a:pPr>
            <a:r>
              <a:rPr sz="1500" b="1">
                <a:solidFill>
                  <a:srgbClr val="0F172A"/>
                </a:solidFill>
              </a:rPr>
              <a:t>Grape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400" b="0">
                <a:solidFill>
                  <a:srgbClr val="334155"/>
                </a:solidFill>
              </a:rPr>
              <a:t>Black rot, Esca, Leaf blight, Healthy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</a:pPr>
            <a:r>
              <a:rPr sz="1500" b="1">
                <a:solidFill>
                  <a:srgbClr val="0F172A"/>
                </a:solidFill>
              </a:rPr>
              <a:t>Orange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400" b="0">
                <a:solidFill>
                  <a:srgbClr val="334155"/>
                </a:solidFill>
              </a:rPr>
              <a:t>Huanglongbing (citrus greening)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</a:pPr>
            <a:r>
              <a:rPr sz="1500" b="1">
                <a:solidFill>
                  <a:srgbClr val="0F172A"/>
                </a:solidFill>
              </a:rPr>
              <a:t>Bell pepper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400" b="0">
                <a:solidFill>
                  <a:srgbClr val="334155"/>
                </a:solidFill>
              </a:rPr>
              <a:t>Bacterial spot, Healthy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508760"/>
            <a:ext cx="2514600" cy="4663440"/>
          </a:xfrm>
          <a:prstGeom prst="roundRect">
            <a:avLst>
              <a:gd name="adj" fmla="val 4363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618488"/>
            <a:ext cx="54864" cy="4443983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691640"/>
            <a:ext cx="210312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D97706"/>
                </a:solidFill>
              </a:rPr>
              <a:t>Tubers, berries, row crops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</a:pPr>
            <a:r>
              <a:rPr sz="1500" b="1">
                <a:solidFill>
                  <a:srgbClr val="0F172A"/>
                </a:solidFill>
              </a:rPr>
              <a:t>Potato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400" b="0">
                <a:solidFill>
                  <a:srgbClr val="334155"/>
                </a:solidFill>
              </a:rPr>
              <a:t>Early blight, Late blight, Healthy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</a:pPr>
            <a:r>
              <a:rPr sz="1500" b="1">
                <a:solidFill>
                  <a:srgbClr val="0F172A"/>
                </a:solidFill>
              </a:rPr>
              <a:t>Strawberry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400" b="0">
                <a:solidFill>
                  <a:srgbClr val="334155"/>
                </a:solidFill>
              </a:rPr>
              <a:t>Leaf scorch, Healthy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</a:pPr>
            <a:r>
              <a:rPr sz="1500" b="1">
                <a:solidFill>
                  <a:srgbClr val="0F172A"/>
                </a:solidFill>
              </a:rPr>
              <a:t>Squash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400" b="0">
                <a:solidFill>
                  <a:srgbClr val="334155"/>
                </a:solidFill>
              </a:rPr>
              <a:t>Powdery mildew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</a:pPr>
            <a:r>
              <a:rPr sz="1500" b="1">
                <a:solidFill>
                  <a:srgbClr val="0F172A"/>
                </a:solidFill>
              </a:rPr>
              <a:t>Soybean / Raspberry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400" b="0">
                <a:solidFill>
                  <a:srgbClr val="334155"/>
                </a:solidFill>
              </a:rPr>
              <a:t>Healthy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23960" y="1508760"/>
            <a:ext cx="2514600" cy="4663440"/>
          </a:xfrm>
          <a:prstGeom prst="roundRect">
            <a:avLst>
              <a:gd name="adj" fmla="val 4363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823960" y="1618488"/>
            <a:ext cx="54864" cy="4443983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9992" y="1691640"/>
            <a:ext cx="210312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DC2626"/>
                </a:solidFill>
              </a:rPr>
              <a:t>Tomato (10 classes)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</a:pPr>
            <a:r>
              <a:rPr sz="1500" b="1">
                <a:solidFill>
                  <a:srgbClr val="0F172A"/>
                </a:solidFill>
              </a:rPr>
              <a:t>Fungal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400" b="0">
                <a:solidFill>
                  <a:srgbClr val="334155"/>
                </a:solidFill>
              </a:rPr>
              <a:t>Early blight, Late blight, Leaf mold, Septoria spot, Target spot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</a:pPr>
            <a:r>
              <a:rPr sz="1500" b="1">
                <a:solidFill>
                  <a:srgbClr val="0F172A"/>
                </a:solidFill>
              </a:rPr>
              <a:t>Bacterial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400" b="0">
                <a:solidFill>
                  <a:srgbClr val="334155"/>
                </a:solidFill>
              </a:rPr>
              <a:t>Bacterial spot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</a:pPr>
            <a:r>
              <a:rPr sz="1500" b="1">
                <a:solidFill>
                  <a:srgbClr val="0F172A"/>
                </a:solidFill>
              </a:rPr>
              <a:t>Viral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400" b="0">
                <a:solidFill>
                  <a:srgbClr val="334155"/>
                </a:solidFill>
              </a:rPr>
              <a:t>Yellow leaf curl, Mosaic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</a:pPr>
            <a:r>
              <a:rPr sz="1500" b="1">
                <a:solidFill>
                  <a:srgbClr val="0F172A"/>
                </a:solidFill>
              </a:rPr>
              <a:t>Pest / Healthy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400" b="0">
                <a:solidFill>
                  <a:srgbClr val="334155"/>
                </a:solidFill>
              </a:rPr>
              <a:t>Spider mites, 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64748B"/>
                </a:solidFill>
              </a:rPr>
              <a:t>CropSense AI  |  EfficientNetV2-MSAF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64748B"/>
                </a:solidFill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059669"/>
                </a:solidFill>
              </a:rPr>
              <a:t>TRAINING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0F172A"/>
                </a:solidFill>
              </a:rPr>
              <a:t>One identical recipe for all three architectures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257800" cy="1874519"/>
          </a:xfrm>
          <a:prstGeom prst="roundRect">
            <a:avLst>
              <a:gd name="adj" fmla="val 5853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18488"/>
            <a:ext cx="54864" cy="1655063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709928"/>
            <a:ext cx="4800600" cy="1554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059669"/>
                </a:solidFill>
              </a:rPr>
              <a:t>Optimisation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400" b="0">
                <a:solidFill>
                  <a:srgbClr val="334155"/>
                </a:solidFill>
              </a:rPr>
              <a:t>AdamW (lr 0.001, weight decay 1e-4) with OneCycleLR.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400" b="0">
                <a:solidFill>
                  <a:srgbClr val="334155"/>
                </a:solidFill>
              </a:rPr>
              <a:t>8 epochs, batch 32, mixed precision (FP16 autocast + GradScaler) on an RTX 3050 4 GB.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508760"/>
            <a:ext cx="5257800" cy="1874519"/>
          </a:xfrm>
          <a:prstGeom prst="roundRect">
            <a:avLst>
              <a:gd name="adj" fmla="val 5853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1618488"/>
            <a:ext cx="54864" cy="165506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709928"/>
            <a:ext cx="4800600" cy="1554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2563EB"/>
                </a:solidFill>
              </a:rPr>
              <a:t>Regularisation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400" b="0">
                <a:solidFill>
                  <a:srgbClr val="334155"/>
                </a:solidFill>
              </a:rPr>
              <a:t>Cross-entropy with label smoothing 0.1 (formula below).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400" b="0">
                <a:solidFill>
                  <a:srgbClr val="334155"/>
                </a:solidFill>
              </a:rPr>
              <a:t>MSAF only: dropout 0.3 on the fused descriptor and scale-dropout 0.1.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66160"/>
            <a:ext cx="5257800" cy="1874519"/>
          </a:xfrm>
          <a:prstGeom prst="roundRect">
            <a:avLst>
              <a:gd name="adj" fmla="val 5853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3675887"/>
            <a:ext cx="54864" cy="1655063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767328"/>
            <a:ext cx="4800600" cy="1554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D97706"/>
                </a:solidFill>
              </a:rPr>
              <a:t>Augmentation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400" b="0">
                <a:solidFill>
                  <a:srgbClr val="334155"/>
                </a:solidFill>
              </a:rPr>
              <a:t>RandomResizedCrop 224, horizontal and vertical flips, ColorJitter.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400" b="0">
                <a:solidFill>
                  <a:srgbClr val="334155"/>
                </a:solidFill>
              </a:rPr>
              <a:t>Corruptions are NOT used in training: robustness is measured, not trained in.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566160"/>
            <a:ext cx="5257800" cy="1874519"/>
          </a:xfrm>
          <a:prstGeom prst="roundRect">
            <a:avLst>
              <a:gd name="adj" fmla="val 5853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675887"/>
            <a:ext cx="54864" cy="1655063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3767328"/>
            <a:ext cx="4800600" cy="1554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7C3AED"/>
                </a:solidFill>
              </a:rPr>
              <a:t>Sampling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400" b="0">
                <a:solidFill>
                  <a:srgbClr val="334155"/>
                </a:solidFill>
              </a:rPr>
              <a:t>Each epoch draws one random copy of every source leaf (36,656 leaves).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400" b="0">
                <a:solidFill>
                  <a:srgbClr val="334155"/>
                </a:solidFill>
              </a:rPr>
              <a:t>Selection: best validation accuracy; evaluated once on the held-out test split.</a:t>
            </a:r>
          </a:p>
        </p:txBody>
      </p:sp>
      <p:pic>
        <p:nvPicPr>
          <p:cNvPr id="18" name="Picture 17" descr="eq_label_smooth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5334" y="5623560"/>
            <a:ext cx="4310850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64748B"/>
                </a:solidFill>
              </a:rPr>
              <a:t>CropSense AI  |  EfficientNetV2-MSAF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64748B"/>
                </a:solidFill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059669"/>
                </a:solidFill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0F172A"/>
                </a:solidFill>
              </a:rPr>
              <a:t>Ablation on the leaf-disjoint test set (8,889 images)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63040"/>
          <a:ext cx="10698475" cy="226771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22405"/>
                <a:gridCol w="782815"/>
                <a:gridCol w="956774"/>
                <a:gridCol w="956774"/>
                <a:gridCol w="1304692"/>
                <a:gridCol w="1130733"/>
                <a:gridCol w="1043754"/>
                <a:gridCol w="1043754"/>
                <a:gridCol w="956774"/>
              </a:tblGrid>
              <a:tr h="566928">
                <a:tc>
                  <a:txBody>
                    <a:bodyPr wrap="square"/>
                    <a:lstStyle/>
                    <a:p>
                      <a:pPr algn="l">
                        <a:defRPr sz="1200" b="1">
                          <a:solidFill>
                            <a:srgbClr val="F1F5F9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 marL="73152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1">
                          <a:solidFill>
                            <a:srgbClr val="F1F5F9"/>
                          </a:solidFill>
                        </a:defRPr>
                      </a:pPr>
                      <a:r>
                        <a:t>Params</a:t>
                      </a:r>
                    </a:p>
                  </a:txBody>
                  <a:tcPr marL="73152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1">
                          <a:solidFill>
                            <a:srgbClr val="F1F5F9"/>
                          </a:solidFill>
                        </a:defRPr>
                      </a:pPr>
                      <a:r>
                        <a:t>Clean acc</a:t>
                      </a:r>
                    </a:p>
                  </a:txBody>
                  <a:tcPr marL="73152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1">
                          <a:solidFill>
                            <a:srgbClr val="F1F5F9"/>
                          </a:solidFill>
                        </a:defRPr>
                      </a:pPr>
                      <a:r>
                        <a:t>Macro-F1</a:t>
                      </a:r>
                    </a:p>
                  </a:txBody>
                  <a:tcPr marL="73152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1">
                          <a:solidFill>
                            <a:srgbClr val="F1F5F9"/>
                          </a:solidFill>
                        </a:defRPr>
                      </a:pPr>
                      <a:r>
                        <a:t>Mean corrupted acc (mCA)</a:t>
                      </a:r>
                    </a:p>
                  </a:txBody>
                  <a:tcPr marL="73152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1">
                          <a:solidFill>
                            <a:srgbClr val="F1F5F9"/>
                          </a:solidFill>
                        </a:defRPr>
                      </a:pPr>
                      <a:r>
                        <a:t>Motion blur</a:t>
                      </a:r>
                    </a:p>
                  </a:txBody>
                  <a:tcPr marL="73152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1">
                          <a:solidFill>
                            <a:srgbClr val="F1F5F9"/>
                          </a:solidFill>
                        </a:defRPr>
                      </a:pPr>
                      <a:r>
                        <a:t>ECE (lower better)</a:t>
                      </a:r>
                    </a:p>
                  </a:txBody>
                  <a:tcPr marL="73152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1">
                          <a:solidFill>
                            <a:srgbClr val="F1F5F9"/>
                          </a:solidFill>
                        </a:defRPr>
                      </a:pPr>
                      <a:r>
                        <a:t>Field photo conf.</a:t>
                      </a:r>
                    </a:p>
                  </a:txBody>
                  <a:tcPr marL="73152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1">
                          <a:solidFill>
                            <a:srgbClr val="F1F5F9"/>
                          </a:solidFill>
                        </a:defRPr>
                      </a:pPr>
                      <a:r>
                        <a:t>GPU latency</a:t>
                      </a:r>
                    </a:p>
                  </a:txBody>
                  <a:tcPr marL="73152" marR="73152" marT="27432" marB="27432" anchor="ctr">
                    <a:solidFill>
                      <a:srgbClr val="0F172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EfficientNetV2-S (baseline)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20.23M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1">
                          <a:solidFill>
                            <a:srgbClr val="059669"/>
                          </a:solidFill>
                        </a:defRPr>
                      </a:pPr>
                      <a:r>
                        <a:t>99.62%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1">
                          <a:solidFill>
                            <a:srgbClr val="059669"/>
                          </a:solidFill>
                        </a:defRPr>
                      </a:pPr>
                      <a:r>
                        <a:t>99.61%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82.20%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54.45%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10.57%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71.1%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15.6 ms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EfficientNetV2-S + CBAM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20.43M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99.51%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99.51%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1">
                          <a:solidFill>
                            <a:srgbClr val="059669"/>
                          </a:solidFill>
                        </a:defRPr>
                      </a:pPr>
                      <a:r>
                        <a:t>83.08%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1">
                          <a:solidFill>
                            <a:srgbClr val="059669"/>
                          </a:solidFill>
                        </a:defRPr>
                      </a:pPr>
                      <a:r>
                        <a:t>62.95%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10.17%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1">
                          <a:solidFill>
                            <a:srgbClr val="059669"/>
                          </a:solidFill>
                        </a:defRPr>
                      </a:pPr>
                      <a:r>
                        <a:t>83.3%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16.3 ms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defRPr sz="1200" b="1">
                          <a:solidFill>
                            <a:srgbClr val="0F172A"/>
                          </a:solidFill>
                        </a:defRPr>
                      </a:pPr>
                      <a:r>
                        <a:t>EfficientNetV2-MSAF (proposed)</a:t>
                      </a:r>
                    </a:p>
                  </a:txBody>
                  <a:tcPr marL="73152" marR="73152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20.45M</a:t>
                      </a:r>
                    </a:p>
                  </a:txBody>
                  <a:tcPr marL="73152" marR="73152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99.51%</a:t>
                      </a:r>
                    </a:p>
                  </a:txBody>
                  <a:tcPr marL="73152" marR="73152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99.51%</a:t>
                      </a:r>
                    </a:p>
                  </a:txBody>
                  <a:tcPr marL="73152" marR="73152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83.00%</a:t>
                      </a:r>
                    </a:p>
                  </a:txBody>
                  <a:tcPr marL="73152" marR="73152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50.13%</a:t>
                      </a:r>
                    </a:p>
                  </a:txBody>
                  <a:tcPr marL="73152" marR="73152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1">
                          <a:solidFill>
                            <a:srgbClr val="059669"/>
                          </a:solidFill>
                        </a:defRPr>
                      </a:pPr>
                      <a:r>
                        <a:t>5.14%</a:t>
                      </a:r>
                    </a:p>
                  </a:txBody>
                  <a:tcPr marL="73152" marR="73152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80.1%</a:t>
                      </a:r>
                    </a:p>
                  </a:txBody>
                  <a:tcPr marL="73152" marR="73152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17.3 ms</a:t>
                      </a:r>
                    </a:p>
                  </a:txBody>
                  <a:tcPr marL="73152" marR="73152" marT="27432" marB="27432" anchor="ctr"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31520" y="4160520"/>
            <a:ext cx="2491739" cy="201168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4270248"/>
            <a:ext cx="54864" cy="179222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361688"/>
            <a:ext cx="2034539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059669"/>
                </a:solidFill>
              </a:rPr>
              <a:t>Calibration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400" b="0">
                <a:solidFill>
                  <a:srgbClr val="334155"/>
                </a:solidFill>
              </a:rPr>
              <a:t>ECE 10.6% -&gt; 5.1%: MSAF's confidence matches its accuracy far better.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06139" y="4160520"/>
            <a:ext cx="2491739" cy="201168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06139" y="4270248"/>
            <a:ext cx="54864" cy="179222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80459" y="4361688"/>
            <a:ext cx="2034539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D97706"/>
                </a:solidFill>
              </a:rPr>
              <a:t>Field photos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400" b="0">
                <a:solidFill>
                  <a:srgbClr val="334155"/>
                </a:solidFill>
              </a:rPr>
              <a:t>8/8 correct vs. 6/8; true-class confidence +9.0 pts.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59" y="4160520"/>
            <a:ext cx="2491739" cy="201168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59" y="4270248"/>
            <a:ext cx="54864" cy="179222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79" y="4361688"/>
            <a:ext cx="2034539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2563EB"/>
                </a:solidFill>
              </a:rPr>
              <a:t>Robustness: mixed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400" b="0">
                <a:solidFill>
                  <a:srgbClr val="334155"/>
                </a:solidFill>
              </a:rPr>
              <a:t>mCA +0.8 pts. Gains: sensor noise +4.8 pts, low light +4.3 pts. Loss: motion blur -4.3 pts.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55380" y="4160520"/>
            <a:ext cx="2491739" cy="201168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55380" y="4270248"/>
            <a:ext cx="54864" cy="179222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29700" y="4361688"/>
            <a:ext cx="2034539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7C3AED"/>
                </a:solidFill>
              </a:rPr>
              <a:t>CBAM alone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400" b="0">
                <a:solidFill>
                  <a:srgbClr val="334155"/>
                </a:solidFill>
              </a:rPr>
              <a:t>mCA +0.9 pts, best on motion blur, but ECE stays 10.2%: the calibration gain comes from multi-scale GeM fusion.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64748B"/>
                </a:solidFill>
              </a:rPr>
              <a:t>CropSense AI  |  EfficientNetV2-MSAF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64748B"/>
                </a:solidFill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059669"/>
                </a:solidFill>
              </a:rPr>
              <a:t>ROBUSTNESS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0F172A"/>
                </a:solidFill>
              </a:rPr>
              <a:t>Accuracy under six simulated field conditions</a:t>
            </a:r>
          </a:p>
        </p:txBody>
      </p:sp>
      <p:pic>
        <p:nvPicPr>
          <p:cNvPr id="6" name="Picture 5" descr="ablation_robust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255305"/>
            <a:ext cx="7589520" cy="317034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503920" y="1417320"/>
            <a:ext cx="2926080" cy="48463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03920" y="1527048"/>
            <a:ext cx="54864" cy="4626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1600200"/>
            <a:ext cx="25146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2563EB"/>
                </a:solidFill>
              </a:rPr>
              <a:t>Conditions tested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</a:pPr>
            <a:r>
              <a:rPr sz="1200" b="1">
                <a:solidFill>
                  <a:srgbClr val="0F172A"/>
                </a:solidFill>
              </a:rPr>
              <a:t>Gaussian / motion blur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334155"/>
                </a:solidFill>
              </a:rPr>
              <a:t>Defocus and hand shake (radius 2.5; 15 px kernel at random angle).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</a:pPr>
            <a:r>
              <a:rPr sz="1200" b="1">
                <a:solidFill>
                  <a:srgbClr val="0F172A"/>
                </a:solidFill>
              </a:rPr>
              <a:t>Sensor noise / low light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334155"/>
                </a:solidFill>
              </a:rPr>
              <a:t>Gaussian noise sigma 25; 35% brightness + noise.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</a:pPr>
            <a:r>
              <a:rPr sz="1200" b="1">
                <a:solidFill>
                  <a:srgbClr val="0F172A"/>
                </a:solidFill>
              </a:rPr>
              <a:t>JPEG q=10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334155"/>
                </a:solidFill>
              </a:rPr>
              <a:t>Heavy compression from messaging apps.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</a:pPr>
            <a:r>
              <a:rPr sz="1200" b="1">
                <a:solidFill>
                  <a:srgbClr val="0F172A"/>
                </a:solidFill>
              </a:rPr>
              <a:t>Overexposure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334155"/>
                </a:solidFill>
              </a:rPr>
              <a:t>Midday glare: 1.45x gain + 30.</a:t>
            </a:r>
          </a:p>
          <a:p>
            <a:pPr algn="l">
              <a:lnSpc>
                <a:spcPct val="105000"/>
              </a:lnSpc>
              <a:spcBef>
                <a:spcPts val="1400"/>
              </a:spcBef>
            </a:pPr>
            <a:r>
              <a:rPr sz="1100" b="1">
                <a:solidFill>
                  <a:srgbClr val="059669"/>
                </a:solidFill>
              </a:rPr>
              <a:t>None of these corruptions were seen in training for any model.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100" b="0">
                <a:solidFill>
                  <a:srgbClr val="334155"/>
                </a:solidFill>
              </a:rPr>
              <a:t>MSAF gains most on sensor noise +4.8 pts, low light +4.3 pts; motion blur remains the weak spot.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64748B"/>
                </a:solidFill>
              </a:rPr>
              <a:t>CropSense AI  |  EfficientNetV2-MSAF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64748B"/>
                </a:solidFill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059669"/>
                </a:solidFill>
              </a:rPr>
              <a:t>FIELD-AUGMENTED 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0F172A"/>
                </a:solidFill>
              </a:rPr>
              <a:t>Does MSAF still help when both models train on blur and noise?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63040"/>
          <a:ext cx="10698475" cy="2514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70142"/>
                <a:gridCol w="1050743"/>
                <a:gridCol w="1241787"/>
                <a:gridCol w="1241787"/>
                <a:gridCol w="1050743"/>
                <a:gridCol w="1241787"/>
                <a:gridCol w="1146265"/>
                <a:gridCol w="955221"/>
              </a:tblGrid>
              <a:tr h="502920">
                <a:tc>
                  <a:txBody>
                    <a:bodyPr wrap="square"/>
                    <a:lstStyle/>
                    <a:p>
                      <a:pPr algn="l">
                        <a:defRPr sz="1200" b="1">
                          <a:solidFill>
                            <a:srgbClr val="F1F5F9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 marL="73152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1">
                          <a:solidFill>
                            <a:srgbClr val="F1F5F9"/>
                          </a:solidFill>
                        </a:defRPr>
                      </a:pPr>
                      <a:r>
                        <a:t>Clean acc</a:t>
                      </a:r>
                    </a:p>
                  </a:txBody>
                  <a:tcPr marL="73152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1">
                          <a:solidFill>
                            <a:srgbClr val="F1F5F9"/>
                          </a:solidFill>
                        </a:defRPr>
                      </a:pPr>
                      <a:r>
                        <a:t>Mean corrupted (mCA)</a:t>
                      </a:r>
                    </a:p>
                  </a:txBody>
                  <a:tcPr marL="73152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1">
                          <a:solidFill>
                            <a:srgbClr val="F1F5F9"/>
                          </a:solidFill>
                        </a:defRPr>
                      </a:pPr>
                      <a:r>
                        <a:t>Seen in training (2)</a:t>
                      </a:r>
                    </a:p>
                  </a:txBody>
                  <a:tcPr marL="73152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1">
                          <a:solidFill>
                            <a:srgbClr val="F1F5F9"/>
                          </a:solidFill>
                        </a:defRPr>
                      </a:pPr>
                      <a:r>
                        <a:t>Unseen (4)</a:t>
                      </a:r>
                    </a:p>
                  </a:txBody>
                  <a:tcPr marL="73152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1">
                          <a:solidFill>
                            <a:srgbClr val="F1F5F9"/>
                          </a:solidFill>
                        </a:defRPr>
                      </a:pPr>
                      <a:r>
                        <a:t>Motion blur (unseen)</a:t>
                      </a:r>
                    </a:p>
                  </a:txBody>
                  <a:tcPr marL="73152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1">
                          <a:solidFill>
                            <a:srgbClr val="F1F5F9"/>
                          </a:solidFill>
                        </a:defRPr>
                      </a:pPr>
                      <a:r>
                        <a:t>ECE (lower better)</a:t>
                      </a:r>
                    </a:p>
                  </a:txBody>
                  <a:tcPr marL="73152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1">
                          <a:solidFill>
                            <a:srgbClr val="F1F5F9"/>
                          </a:solidFill>
                        </a:defRPr>
                      </a:pPr>
                      <a:r>
                        <a:t>Field photos</a:t>
                      </a:r>
                    </a:p>
                  </a:txBody>
                  <a:tcPr marL="73152" marR="73152" marT="27432" marB="27432" anchor="ctr">
                    <a:solidFill>
                      <a:srgbClr val="0F172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EfficientNetV2-S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1">
                          <a:solidFill>
                            <a:srgbClr val="059669"/>
                          </a:solidFill>
                        </a:defRPr>
                      </a:pPr>
                      <a:r>
                        <a:t>99.62%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82.20%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81.61%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82.50%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54.45%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10.57%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6 / 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EfficientNetV2-S + field aug.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99.58%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1">
                          <a:solidFill>
                            <a:srgbClr val="059669"/>
                          </a:solidFill>
                        </a:defRPr>
                      </a:pPr>
                      <a:r>
                        <a:t>95.67%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99.27%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1">
                          <a:solidFill>
                            <a:srgbClr val="059669"/>
                          </a:solidFill>
                        </a:defRPr>
                      </a:pPr>
                      <a:r>
                        <a:t>93.88%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1">
                          <a:solidFill>
                            <a:srgbClr val="059669"/>
                          </a:solidFill>
                        </a:defRPr>
                      </a:pPr>
                      <a:r>
                        <a:t>86.31%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10.56%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6 / 8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EfficientNetV2-MSAF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99.51%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83.00%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83.54%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82.72%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50.13%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1">
                          <a:solidFill>
                            <a:srgbClr val="059669"/>
                          </a:solidFill>
                        </a:defRPr>
                      </a:pPr>
                      <a:r>
                        <a:t>5.14%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8 / 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defRPr sz="1200" b="1">
                          <a:solidFill>
                            <a:srgbClr val="0F172A"/>
                          </a:solidFill>
                        </a:defRPr>
                      </a:pPr>
                      <a:r>
                        <a:t>EfficientNetV2-MSAF + field aug.</a:t>
                      </a:r>
                    </a:p>
                  </a:txBody>
                  <a:tcPr marL="73152" marR="73152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99.56%</a:t>
                      </a:r>
                    </a:p>
                  </a:txBody>
                  <a:tcPr marL="73152" marR="73152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94.83%</a:t>
                      </a:r>
                    </a:p>
                  </a:txBody>
                  <a:tcPr marL="73152" marR="73152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1">
                          <a:solidFill>
                            <a:srgbClr val="059669"/>
                          </a:solidFill>
                        </a:defRPr>
                      </a:pPr>
                      <a:r>
                        <a:t>99.27%</a:t>
                      </a:r>
                    </a:p>
                  </a:txBody>
                  <a:tcPr marL="73152" marR="73152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92.62%</a:t>
                      </a:r>
                    </a:p>
                  </a:txBody>
                  <a:tcPr marL="73152" marR="73152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81.85%</a:t>
                      </a:r>
                    </a:p>
                  </a:txBody>
                  <a:tcPr marL="73152" marR="73152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5.45%</a:t>
                      </a:r>
                    </a:p>
                  </a:txBody>
                  <a:tcPr marL="73152" marR="73152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t>8 / 8</a:t>
                      </a:r>
                    </a:p>
                  </a:txBody>
                  <a:tcPr marL="73152" marR="73152" marT="27432" marB="27432" anchor="ctr"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31520" y="4160520"/>
            <a:ext cx="3429000" cy="201168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4270248"/>
            <a:ext cx="54864" cy="179222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361688"/>
            <a:ext cx="297180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2563EB"/>
                </a:solidFill>
              </a:rPr>
              <a:t>Augmentation effect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300" b="0">
                <a:solidFill>
                  <a:srgbClr val="334155"/>
                </a:solidFill>
              </a:rPr>
              <a:t>mCA: EfficientNetV2-S 82.2% -&gt; 95.7%, MSAF 83.0% -&gt; 94.8%.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4160520"/>
            <a:ext cx="3429000" cy="201168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4270248"/>
            <a:ext cx="54864" cy="179222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4361688"/>
            <a:ext cx="297180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059669"/>
                </a:solidFill>
              </a:rPr>
              <a:t>Architecture under the same augmentation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300" b="0">
                <a:solidFill>
                  <a:srgbClr val="334155"/>
                </a:solidFill>
              </a:rPr>
              <a:t>MSAF + aug. vs. EfficientNetV2-S + aug.: mCA -0.8 pts, unseen -1.3 pts, ECE 10.6% -&gt; 5.5%.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80" y="4160520"/>
            <a:ext cx="3429000" cy="201168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55280" y="4270248"/>
            <a:ext cx="54864" cy="179222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4361688"/>
            <a:ext cx="297180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D97706"/>
                </a:solidFill>
              </a:rPr>
              <a:t>Unseen corruptions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300" b="0">
                <a:solidFill>
                  <a:srgbClr val="334155"/>
                </a:solidFill>
              </a:rPr>
              <a:t>Motion blur, JPEG, low light and overexposure were never trained on. Motion blur: 86.3% (S + aug.) vs. 81.8% (MSAF + aug.).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64748B"/>
                </a:solidFill>
              </a:rPr>
              <a:t>CropSense AI  |  EfficientNetV2-MSAF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64748B"/>
                </a:solidFill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059669"/>
                </a:solidFill>
              </a:rPr>
              <a:t>FIELD-AUGMENTED 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0F172A"/>
                </a:solidFill>
              </a:rPr>
              <a:t>Accuracy per condition, with and without augmentation</a:t>
            </a:r>
          </a:p>
        </p:txBody>
      </p:sp>
      <p:pic>
        <p:nvPicPr>
          <p:cNvPr id="6" name="Picture 5" descr="field_aug_robust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255305"/>
            <a:ext cx="7589520" cy="317034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503920" y="1417320"/>
            <a:ext cx="2926080" cy="48463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03920" y="1527048"/>
            <a:ext cx="54864" cy="4626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1600200"/>
            <a:ext cx="25146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2563EB"/>
                </a:solidFill>
              </a:rPr>
              <a:t>Training augmentation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</a:rPr>
              <a:t>Gaussian blur (sigma 0.5-3) on 30% and sensor noise (std up to 0.12) on 30% of training images.</a:t>
            </a:r>
          </a:p>
          <a:p>
            <a:pPr algn="l">
              <a:lnSpc>
                <a:spcPct val="105000"/>
              </a:lnSpc>
              <a:spcBef>
                <a:spcPts val="1400"/>
              </a:spcBef>
            </a:pPr>
            <a:r>
              <a:rPr sz="1500" b="1">
                <a:solidFill>
                  <a:srgbClr val="2563EB"/>
                </a:solidFill>
              </a:rPr>
              <a:t>Seen vs. unseen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</a:rPr>
              <a:t>Gaussian blur and sensor noise resemble the training augmentation. Motion blur, JPEG, low light and overexposure test generalisation.</a:t>
            </a:r>
          </a:p>
          <a:p>
            <a:pPr algn="l">
              <a:lnSpc>
                <a:spcPct val="105000"/>
              </a:lnSpc>
              <a:spcBef>
                <a:spcPts val="1400"/>
              </a:spcBef>
            </a:pPr>
            <a:r>
              <a:rPr sz="1100" b="1">
                <a:solidFill>
                  <a:srgbClr val="059669"/>
                </a:solidFill>
              </a:rPr>
              <a:t>Same split, epochs and seed as the other runs.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64748B"/>
                </a:solidFill>
              </a:rPr>
              <a:t>CropSense AI  |  EfficientNetV2-MSAF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64748B"/>
                </a:solidFill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059669"/>
                </a:solidFill>
              </a:rPr>
              <a:t>CONVERGENCE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0F172A"/>
                </a:solidFill>
              </a:rPr>
              <a:t>Validation curves of the three architectures</a:t>
            </a:r>
          </a:p>
        </p:txBody>
      </p:sp>
      <p:pic>
        <p:nvPicPr>
          <p:cNvPr id="6" name="Picture 5" descr="ablation_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246680"/>
            <a:ext cx="7589520" cy="318759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503920" y="1417320"/>
            <a:ext cx="2926080" cy="48463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03920" y="1527048"/>
            <a:ext cx="54864" cy="462686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1600200"/>
            <a:ext cx="25146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059669"/>
                </a:solidFill>
              </a:rPr>
              <a:t>Best validation accuracy</a:t>
            </a:r>
          </a:p>
          <a:p>
            <a:pPr algn="l">
              <a:lnSpc>
                <a:spcPct val="105000"/>
              </a:lnSpc>
              <a:spcBef>
                <a:spcPts val="1200"/>
              </a:spcBef>
            </a:pPr>
            <a:r>
              <a:rPr sz="1200" b="1">
                <a:solidFill>
                  <a:srgbClr val="0F172A"/>
                </a:solidFill>
              </a:rPr>
              <a:t>EfficientNetV2-S (baseline)
</a:t>
            </a:r>
            <a:r>
              <a:rPr sz="2000" b="1">
                <a:solidFill>
                  <a:srgbClr val="64748B"/>
                </a:solidFill>
              </a:rPr>
              <a:t>99.64%</a:t>
            </a:r>
          </a:p>
          <a:p>
            <a:pPr algn="l">
              <a:lnSpc>
                <a:spcPct val="105000"/>
              </a:lnSpc>
              <a:spcBef>
                <a:spcPts val="1200"/>
              </a:spcBef>
            </a:pPr>
            <a:r>
              <a:rPr sz="1200" b="1">
                <a:solidFill>
                  <a:srgbClr val="0F172A"/>
                </a:solidFill>
              </a:rPr>
              <a:t>EfficientNetV2-S + CBAM
</a:t>
            </a:r>
            <a:r>
              <a:rPr sz="2000" b="1">
                <a:solidFill>
                  <a:srgbClr val="059669"/>
                </a:solidFill>
              </a:rPr>
              <a:t>99.71%</a:t>
            </a:r>
          </a:p>
          <a:p>
            <a:pPr algn="l">
              <a:lnSpc>
                <a:spcPct val="105000"/>
              </a:lnSpc>
              <a:spcBef>
                <a:spcPts val="1200"/>
              </a:spcBef>
            </a:pPr>
            <a:r>
              <a:rPr sz="1200" b="1">
                <a:solidFill>
                  <a:srgbClr val="0F172A"/>
                </a:solidFill>
              </a:rPr>
              <a:t>EfficientNetV2-MSAF (proposed)
</a:t>
            </a:r>
            <a:r>
              <a:rPr sz="2000" b="1">
                <a:solidFill>
                  <a:srgbClr val="64748B"/>
                </a:solidFill>
              </a:rPr>
              <a:t>99.69%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</a:pPr>
            <a:r>
              <a:rPr sz="1100" b="0">
                <a:solidFill>
                  <a:srgbClr val="64748B"/>
                </a:solidFill>
              </a:rPr>
              <a:t>About 5 min per epoch on a 4 GB laptop GPU.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64748B"/>
                </a:solidFill>
              </a:rPr>
              <a:t>CropSense AI  |  EfficientNetV2-MSAF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64748B"/>
                </a:solidFill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059669"/>
                </a:solidFill>
              </a:rPr>
              <a:t>EXPLAINABLE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0F172A"/>
                </a:solidFill>
              </a:rPr>
              <a:t>Grad-CAM: where the model looks</a:t>
            </a:r>
          </a:p>
        </p:txBody>
      </p:sp>
      <p:pic>
        <p:nvPicPr>
          <p:cNvPr id="6" name="Picture 5" descr="gradcam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81930"/>
            <a:ext cx="6766560" cy="351709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0" y="1417320"/>
            <a:ext cx="3657600" cy="1508760"/>
          </a:xfrm>
          <a:prstGeom prst="roundRect">
            <a:avLst>
              <a:gd name="adj" fmla="val 7272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0" y="1527048"/>
            <a:ext cx="54864" cy="1289304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618488"/>
            <a:ext cx="3200400" cy="118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0F172A"/>
                </a:solidFill>
              </a:rPr>
              <a:t>Why it matters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200" b="0">
                <a:solidFill>
                  <a:srgbClr val="334155"/>
                </a:solidFill>
              </a:rPr>
              <a:t>Growers and extension officers need to see that the model looked at diseased tissue, not the background.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3063240"/>
            <a:ext cx="3657600" cy="1508760"/>
          </a:xfrm>
          <a:prstGeom prst="roundRect">
            <a:avLst>
              <a:gd name="adj" fmla="val 7272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0" y="3172968"/>
            <a:ext cx="54864" cy="128930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3264408"/>
            <a:ext cx="3200400" cy="118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2563EB"/>
                </a:solidFill>
              </a:rPr>
              <a:t>How it works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200" b="0">
                <a:solidFill>
                  <a:srgbClr val="334155"/>
                </a:solidFill>
              </a:rPr>
              <a:t>Hooks on the head conv (model.features[-1]) collect activations and gradients; channel weights = mean gradient.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4709160"/>
            <a:ext cx="3657600" cy="1508760"/>
          </a:xfrm>
          <a:prstGeom prst="roundRect">
            <a:avLst>
              <a:gd name="adj" fmla="val 7272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0" y="4818888"/>
            <a:ext cx="54864" cy="1289304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4910328"/>
            <a:ext cx="3200400" cy="118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DC2626"/>
                </a:solidFill>
              </a:rPr>
              <a:t>Caveat for MSAF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200" b="0">
                <a:solidFill>
                  <a:srgbClr val="334155"/>
                </a:solidFill>
              </a:rPr>
              <a:t>On MSAF, Grad-CAM maps are noisy: the per-scale LayerNorm cancels the averaged gradient weights. The app therefore serves EfficientNetV2-S (shown here).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64748B"/>
                </a:solidFill>
              </a:rPr>
              <a:t>CropSense AI  |  EfficientNetV2-MSAF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64748B"/>
                </a:solidFill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059669"/>
                </a:solidFill>
              </a:rPr>
              <a:t>AGRONOMIC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0F172A"/>
                </a:solidFill>
              </a:rPr>
              <a:t>Severity estimate: share of the leaf flagged by Grad-CAM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0698480" cy="1508760"/>
          </a:xfrm>
          <a:prstGeom prst="roundRect">
            <a:avLst>
              <a:gd name="adj" fmla="val 7272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527048"/>
            <a:ext cx="54864" cy="128930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554480"/>
            <a:ext cx="5029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059669"/>
                </a:solidFill>
              </a:rPr>
              <a:t>Severity index S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400" b="0">
                <a:solidFill>
                  <a:srgbClr val="334155"/>
                </a:solidFill>
              </a:rPr>
              <a:t>Pixels inside the segmented leaf whose Grad-CAM activation exceeds tau = 0.45, as a share of all leaf pixels.</a:t>
            </a:r>
          </a:p>
        </p:txBody>
      </p:sp>
      <p:pic>
        <p:nvPicPr>
          <p:cNvPr id="9" name="Picture 8" descr="eq_severity_ind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723859"/>
            <a:ext cx="5029200" cy="89568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31520" y="3108960"/>
            <a:ext cx="2514600" cy="2514600"/>
          </a:xfrm>
          <a:prstGeom prst="roundRect">
            <a:avLst>
              <a:gd name="adj" fmla="val 4363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3218688"/>
            <a:ext cx="54864" cy="229514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310128"/>
            <a:ext cx="2057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059669"/>
                </a:solidFill>
              </a:rPr>
              <a:t>Stage 1: Mild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400" b="1">
                <a:solidFill>
                  <a:srgbClr val="0F172A"/>
                </a:solidFill>
              </a:rPr>
              <a:t>&lt; 10% of leaf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400" b="0">
                <a:solidFill>
                  <a:srgbClr val="334155"/>
                </a:solidFill>
              </a:rPr>
              <a:t>Bio-controls (neem oil, Bacillus subtilis); remove first affected leaves.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9000" y="3108960"/>
            <a:ext cx="2514600" cy="2514600"/>
          </a:xfrm>
          <a:prstGeom prst="roundRect">
            <a:avLst>
              <a:gd name="adj" fmla="val 4363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29000" y="3218688"/>
            <a:ext cx="54864" cy="229514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03320" y="3310128"/>
            <a:ext cx="2057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D97706"/>
                </a:solidFill>
              </a:rPr>
              <a:t>Stage 2: Moderate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400" b="1">
                <a:solidFill>
                  <a:srgbClr val="0F172A"/>
                </a:solidFill>
              </a:rPr>
              <a:t>10-25% of leaf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400" b="0">
                <a:solidFill>
                  <a:srgbClr val="334155"/>
                </a:solidFill>
              </a:rPr>
              <a:t>Protective contact fungicide (copper hydroxide, mancozeb); sanitise tools.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3108960"/>
            <a:ext cx="2514600" cy="2514600"/>
          </a:xfrm>
          <a:prstGeom prst="roundRect">
            <a:avLst>
              <a:gd name="adj" fmla="val 4363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3218688"/>
            <a:ext cx="54864" cy="2295144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3310128"/>
            <a:ext cx="2057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DC2626"/>
                </a:solidFill>
              </a:rPr>
              <a:t>Stage 3: Severe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400" b="1">
                <a:solidFill>
                  <a:srgbClr val="0F172A"/>
                </a:solidFill>
              </a:rPr>
              <a:t>25-50% of leaf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400" b="0">
                <a:solidFill>
                  <a:srgbClr val="334155"/>
                </a:solidFill>
              </a:rPr>
              <a:t>Systemic fungicide (azoxystrobin, difenoconazole); stop overhead irrigation.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23960" y="3108960"/>
            <a:ext cx="2514600" cy="2514600"/>
          </a:xfrm>
          <a:prstGeom prst="roundRect">
            <a:avLst>
              <a:gd name="adj" fmla="val 4363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823960" y="3218688"/>
            <a:ext cx="54864" cy="2295144"/>
          </a:xfrm>
          <a:prstGeom prst="rect">
            <a:avLst/>
          </a:prstGeom>
          <a:solidFill>
            <a:srgbClr val="7F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98280" y="3310128"/>
            <a:ext cx="2057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7F1D1D"/>
                </a:solidFill>
              </a:rPr>
              <a:t>Stage 4: Critical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400" b="1">
                <a:solidFill>
                  <a:srgbClr val="0F172A"/>
                </a:solidFill>
              </a:rPr>
              <a:t>&gt; 50% of leaf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400" b="0">
                <a:solidFill>
                  <a:srgbClr val="334155"/>
                </a:solidFill>
              </a:rPr>
              <a:t>Remove and bag the plant; do not compost; protect neighbouring rows.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80644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4748B"/>
                </a:solidFill>
              </a:rPr>
              <a:t>Caveat: Grad-CAM shows evidence for the class, not a pixel-accurate lesion mask, and the stage thresholds are project-defined rather than an official standard. The app labels it as an estimate.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64748B"/>
                </a:solidFill>
              </a:rPr>
              <a:t>CropSense AI  |  EfficientNetV2-MSAF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64748B"/>
                </a:solidFill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059669"/>
                </a:solidFill>
              </a:rPr>
              <a:t>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0F172A"/>
                </a:solidFill>
              </a:rPr>
              <a:t>Two-stage deployment pipeline (Streamlit app)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2514600" cy="2926080"/>
          </a:xfrm>
          <a:prstGeom prst="roundRect">
            <a:avLst>
              <a:gd name="adj" fmla="val 4363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18488"/>
            <a:ext cx="54864" cy="2706624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709928"/>
            <a:ext cx="205740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DC2626"/>
                </a:solidFill>
              </a:rPr>
              <a:t>1. Leaf gatekeeper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500" b="0">
                <a:solidFill>
                  <a:srgbClr val="334155"/>
                </a:solidFill>
              </a:rPr>
              <a:t>HSV plant-pigment mask rejects documents, screens and objects; contour analysis rejects multi-leaf or cluttered photos.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64408" y="2971800"/>
            <a:ext cx="14630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429000" y="1508760"/>
            <a:ext cx="2514600" cy="2926080"/>
          </a:xfrm>
          <a:prstGeom prst="roundRect">
            <a:avLst>
              <a:gd name="adj" fmla="val 4363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29000" y="1618488"/>
            <a:ext cx="54864" cy="270662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03320" y="1709928"/>
            <a:ext cx="205740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059669"/>
                </a:solidFill>
              </a:rPr>
              <a:t>2. Classification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500" b="0">
                <a:solidFill>
                  <a:srgbClr val="334155"/>
                </a:solidFill>
              </a:rPr>
              <a:t>CNN on the validated single leaf: top-3 classes with confidence, and a warning below 75% confidence.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961888" y="2971800"/>
            <a:ext cx="14630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126480" y="1508760"/>
            <a:ext cx="2514600" cy="2926080"/>
          </a:xfrm>
          <a:prstGeom prst="roundRect">
            <a:avLst>
              <a:gd name="adj" fmla="val 4363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1618488"/>
            <a:ext cx="54864" cy="270662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709928"/>
            <a:ext cx="205740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2563EB"/>
                </a:solidFill>
              </a:rPr>
              <a:t>3. Explanation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500" b="0">
                <a:solidFill>
                  <a:srgbClr val="334155"/>
                </a:solidFill>
              </a:rPr>
              <a:t>Grad-CAM heatmap from the same forward pass as the prediction.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659368" y="2971800"/>
            <a:ext cx="14630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823960" y="1508760"/>
            <a:ext cx="2514600" cy="2926080"/>
          </a:xfrm>
          <a:prstGeom prst="roundRect">
            <a:avLst>
              <a:gd name="adj" fmla="val 4363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23960" y="1618488"/>
            <a:ext cx="54864" cy="270662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280" y="1709928"/>
            <a:ext cx="205740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7C3AED"/>
                </a:solidFill>
              </a:rPr>
              <a:t>4. Action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500" b="0">
                <a:solidFill>
                  <a:srgbClr val="334155"/>
                </a:solidFill>
              </a:rPr>
              <a:t>Severity estimate, organic and chemical treatment plan, and a downloadable PDF report.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663440"/>
            <a:ext cx="10698480" cy="1508760"/>
          </a:xfrm>
          <a:prstGeom prst="roundRect">
            <a:avLst>
              <a:gd name="adj" fmla="val 7272"/>
            </a:avLst>
          </a:prstGeom>
          <a:solidFill>
            <a:srgbClr val="ECFDF5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4773168"/>
            <a:ext cx="54864" cy="128930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4846320"/>
            <a:ext cx="10241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0F172A"/>
                </a:solidFill>
              </a:rPr>
              <a:t>Field-photo check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500" b="0">
                <a:solidFill>
                  <a:srgbClr val="334155"/>
                </a:solidFill>
              </a:rPr>
              <a:t>On 8 real field photos (sample_images/), the baseline classifies 75% correctly and MSAF 100%, with mean true-class confidence 71% vs. 80%.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64748B"/>
                </a:solidFill>
              </a:rPr>
              <a:t>CropSense AI  |  EfficientNetV2-MSAF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64748B"/>
                </a:solidFill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059669"/>
                </a:solidFill>
              </a:rPr>
              <a:t>CRITICAL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0F172A"/>
                </a:solidFill>
              </a:rPr>
              <a:t>Limitations and next steps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3429000" cy="2212848"/>
          </a:xfrm>
          <a:prstGeom prst="roundRect">
            <a:avLst>
              <a:gd name="adj" fmla="val 4958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18488"/>
            <a:ext cx="54864" cy="1993391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709928"/>
            <a:ext cx="2971800" cy="1892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DC2626"/>
                </a:solidFill>
              </a:rPr>
              <a:t>Lab-style training images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300" b="0">
                <a:solidFill>
                  <a:srgbClr val="334155"/>
                </a:solidFill>
              </a:rPr>
              <a:t>PlantVillage leaves are photographed on plain backgrounds. Next: fine-tune on in-field datasets (e.g. PlantDoc).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508760"/>
            <a:ext cx="3429000" cy="2212848"/>
          </a:xfrm>
          <a:prstGeom prst="roundRect">
            <a:avLst>
              <a:gd name="adj" fmla="val 4958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618488"/>
            <a:ext cx="54864" cy="1993391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1709928"/>
            <a:ext cx="2971800" cy="1892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DC2626"/>
                </a:solidFill>
              </a:rPr>
              <a:t>Small real-world test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300" b="0">
                <a:solidFill>
                  <a:srgbClr val="334155"/>
                </a:solidFill>
              </a:rPr>
              <a:t>Field performance is checked on only 8 photos; corruptions are simulated. Next: a labelled field set of several hundred images.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1508760"/>
            <a:ext cx="3429000" cy="2212848"/>
          </a:xfrm>
          <a:prstGeom prst="roundRect">
            <a:avLst>
              <a:gd name="adj" fmla="val 4958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55280" y="1618488"/>
            <a:ext cx="54864" cy="1993391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709928"/>
            <a:ext cx="2971800" cy="1892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D97706"/>
                </a:solidFill>
              </a:rPr>
              <a:t>Closed-world classes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300" b="0">
                <a:solidFill>
                  <a:srgbClr val="334155"/>
                </a:solidFill>
              </a:rPr>
              <a:t>Any leaf is mapped to one of 38 classes; unseen crops (mango, rice) get the closest match. Next: an open-set reject threshold.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904487"/>
            <a:ext cx="3429000" cy="2212848"/>
          </a:xfrm>
          <a:prstGeom prst="roundRect">
            <a:avLst>
              <a:gd name="adj" fmla="val 4958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4014215"/>
            <a:ext cx="54864" cy="1993391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105655"/>
            <a:ext cx="2971800" cy="1892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DC2626"/>
                </a:solidFill>
              </a:rPr>
              <a:t>Explainability trade-off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300" b="0">
                <a:solidFill>
                  <a:srgbClr val="334155"/>
                </a:solidFill>
              </a:rPr>
              <a:t>Grad-CAM works on EfficientNetV2-S but gives noisy maps on MSAF, so the app keeps the baseline. Next: a CAM method built for multi-scale heads (e.g. per-scale Score-CAM).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904487"/>
            <a:ext cx="3429000" cy="2212848"/>
          </a:xfrm>
          <a:prstGeom prst="roundRect">
            <a:avLst>
              <a:gd name="adj" fmla="val 4958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3400" y="4014215"/>
            <a:ext cx="54864" cy="1993391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17720" y="4105655"/>
            <a:ext cx="2971800" cy="1892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D97706"/>
                </a:solidFill>
              </a:rPr>
              <a:t>Deployment choice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300" b="0">
                <a:solidFill>
                  <a:srgbClr val="334155"/>
                </a:solidFill>
              </a:rPr>
              <a:t>Better calibration (MSAF) vs. trustworthy heatmaps and severity estimate (baseline): the app currently favours explainability.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80" y="3904487"/>
            <a:ext cx="3429000" cy="2212848"/>
          </a:xfrm>
          <a:prstGeom prst="roundRect">
            <a:avLst>
              <a:gd name="adj" fmla="val 4958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55280" y="4014215"/>
            <a:ext cx="54864" cy="1993391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4105655"/>
            <a:ext cx="2971800" cy="1892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D97706"/>
                </a:solidFill>
              </a:rPr>
              <a:t>Motion blur and single seed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300" b="0">
                <a:solidFill>
                  <a:srgbClr val="334155"/>
                </a:solidFill>
              </a:rPr>
              <a:t>Motion blur is still the hardest condition (82% for MSAF + aug., 86% for S + aug.). One run per model: gaps under ~1 pt are within noise. Next: motion-blur augmentation and 3 seeds.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94A3B8"/>
                </a:solidFill>
              </a:rPr>
              <a:t>CropSense AI  |  EfficientNetV2-MSAF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94A3B8"/>
                </a:solidFill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10B981"/>
                </a:solidFill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F1F5F9"/>
                </a:solidFill>
              </a:rPr>
              <a:t>Conclusion and live demo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6400800" cy="4663440"/>
          </a:xfrm>
          <a:prstGeom prst="roundRect">
            <a:avLst>
              <a:gd name="adj" fmla="val 2352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691640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>
                <a:solidFill>
                  <a:srgbClr val="10B981"/>
                </a:solidFill>
              </a:rPr>
              <a:t>Contributions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</a:pPr>
            <a:r>
              <a:rPr sz="1400" b="0">
                <a:solidFill>
                  <a:srgbClr val="E2E8F0"/>
                </a:solidFill>
              </a:rPr>
              <a:t>-  Identified 4 measurable drawbacks of the stock EfficientNetV2-S model.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</a:pPr>
            <a:r>
              <a:rPr sz="1400" b="0">
                <a:solidFill>
                  <a:srgbClr val="E2E8F0"/>
                </a:solidFill>
              </a:rPr>
              <a:t>-  Proposed EfficientNetV2-MSAF: multi-scale CBAM attention + GeM fusion for +1.1% parameters.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</a:pPr>
            <a:r>
              <a:rPr sz="1400" b="0">
                <a:solidFill>
                  <a:srgbClr val="E2E8F0"/>
                </a:solidFill>
              </a:rPr>
              <a:t>-  Fixed the evaluation: leaf-disjoint split (old split: 68% of test leaked).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</a:pPr>
            <a:r>
              <a:rPr sz="1400" b="0">
                <a:solidFill>
                  <a:srgbClr val="E2E8F0"/>
                </a:solidFill>
              </a:rPr>
              <a:t>-  Same recipe for all models: MSAF halves calibration error (10.6% -&gt; 5.1%) and gets 8/8 field photos right (baseline 6).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</a:pPr>
            <a:r>
              <a:rPr sz="1400" b="0">
                <a:solidFill>
                  <a:srgbClr val="E2E8F0"/>
                </a:solidFill>
              </a:rPr>
              <a:t>-  Field-augmented training lifts corrupted accuracy 82.2% -&gt; 94.8% (MSAF + aug.); on its own, MSAF does not add robustness (-0.8 pts vs. S + aug.).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</a:pPr>
            <a:r>
              <a:rPr sz="1400" b="0">
                <a:solidFill>
                  <a:srgbClr val="E2E8F0"/>
                </a:solidFill>
              </a:rPr>
              <a:t>-  Trade-off found: MSAF breaks vanilla Grad-CAM, so the app keeps EfficientNetV2-S for trustworthy heatmaps.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0" y="1463040"/>
            <a:ext cx="4023360" cy="4663440"/>
          </a:xfrm>
          <a:prstGeom prst="roundRect">
            <a:avLst>
              <a:gd name="adj" fmla="val 2727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79" y="1691640"/>
            <a:ext cx="347472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>
                <a:solidFill>
                  <a:srgbClr val="60A5FA"/>
                </a:solidFill>
              </a:rPr>
              <a:t>Live demo</a:t>
            </a:r>
          </a:p>
          <a:p>
            <a:pPr algn="l">
              <a:lnSpc>
                <a:spcPct val="105000"/>
              </a:lnSpc>
              <a:spcBef>
                <a:spcPts val="1400"/>
              </a:spcBef>
            </a:pPr>
            <a:r>
              <a:rPr sz="1200" b="0">
                <a:solidFill>
                  <a:srgbClr val="94A3B8"/>
                </a:solidFill>
              </a:rPr>
              <a:t>Run the app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500" b="1">
                <a:solidFill>
                  <a:srgbClr val="10B981"/>
                </a:solidFill>
              </a:rPr>
              <a:t>streamlit run app.py</a:t>
            </a:r>
          </a:p>
          <a:p>
            <a:pPr algn="l">
              <a:lnSpc>
                <a:spcPct val="105000"/>
              </a:lnSpc>
              <a:spcBef>
                <a:spcPts val="1400"/>
              </a:spcBef>
            </a:pPr>
            <a:r>
              <a:rPr sz="1200" b="0">
                <a:solidFill>
                  <a:srgbClr val="94A3B8"/>
                </a:solidFill>
              </a:rPr>
              <a:t>Reproduce the comparison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500" b="1">
                <a:solidFill>
                  <a:srgbClr val="10B981"/>
                </a:solidFill>
              </a:rPr>
              <a:t>.\run_ablation.ps1</a:t>
            </a:r>
          </a:p>
          <a:p>
            <a:pPr algn="l">
              <a:lnSpc>
                <a:spcPct val="105000"/>
              </a:lnSpc>
              <a:spcBef>
                <a:spcPts val="3600"/>
              </a:spcBef>
            </a:pPr>
            <a:r>
              <a:rPr sz="1800" b="1">
                <a:solidFill>
                  <a:srgbClr val="F1F5F9"/>
                </a:solidFill>
              </a:rPr>
              <a:t>Thank you.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