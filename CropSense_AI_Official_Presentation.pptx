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2103120" cy="3200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1F5F9"/>
                </a:solidFill>
              </a:defRPr>
            </a:pPr>
            <a:r>
              <a:t>DEEP LEARNING PROTOTYPE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1F5F9"/>
                </a:solidFill>
              </a:defRPr>
            </a:pPr>
            <a:r>
              <a:t>Autonomous Crop Disease Detection</a:t>
            </a:r>
            <a:br/>
            <a:r>
              <a:t>&amp; Plant Pathology AI</a:t>
            </a:r>
          </a:p>
          <a:p>
            <a:pPr>
              <a:spcBef>
                <a:spcPts val="1500"/>
              </a:spcBef>
              <a:defRPr sz="1600">
                <a:solidFill>
                  <a:srgbClr val="94A3B8"/>
                </a:solidFill>
              </a:defRPr>
            </a:pPr>
            <a:r>
              <a:t>A State-of-the-Art Deep Learning System with Explainable AI &amp; Agronomic Action Plans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474720"/>
            <a:ext cx="2514600" cy="14630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3611880"/>
            <a:ext cx="2240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59669"/>
                </a:solidFill>
              </a:defRPr>
            </a:pPr>
            <a:r>
              <a:t>99.94%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Validation Accuracy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3474720"/>
            <a:ext cx="2514600" cy="14630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3611880"/>
            <a:ext cx="2240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2563EB"/>
                </a:solidFill>
              </a:defRPr>
            </a:pPr>
            <a:r>
              <a:t>38 Classes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14 Crop Species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3474720"/>
            <a:ext cx="2514600" cy="14630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3611880"/>
            <a:ext cx="2240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8B5CF6"/>
                </a:solidFill>
              </a:defRPr>
            </a:pPr>
            <a:r>
              <a:t>EfficientNetV2-S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20.23M Parameters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3474720"/>
            <a:ext cx="2514600" cy="14630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3611880"/>
            <a:ext cx="2240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EC4899"/>
                </a:solidFill>
              </a:defRPr>
            </a:pPr>
            <a:r>
              <a:t>Grad-CAM XAI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Explainable Attention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436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Comprehensive Technical Presentation | Automated End-to-End Pipeline Demonstration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CONTEXT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The Challenge: Why Traditional Crop Diagnosis Fails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429000" cy="48463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2971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563EB"/>
                </a:solidFill>
              </a:defRPr>
            </a:pPr>
            <a:r>
              <a:t>01. Global Agricultural Impact</a:t>
            </a:r>
          </a:p>
          <a:p>
            <a:pPr>
              <a:spcBef>
                <a:spcPts val="1400"/>
              </a:spcBef>
              <a:defRPr sz="1100">
                <a:solidFill>
                  <a:srgbClr val="0F172A"/>
                </a:solidFill>
              </a:defRPr>
            </a:pPr>
            <a:r>
              <a:t>Up to 40% of global crop yield is lost annually to plant pests and pathogens (FAO estimate).</a:t>
            </a:r>
            <a:br/>
            <a:br/>
            <a:r>
              <a:t>Early detection before secondary spread is the single most critical factor in salvaging yields and preventing catastrophic losses for smallholder farmers.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71600"/>
            <a:ext cx="3429000" cy="48463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00200"/>
            <a:ext cx="2971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97706"/>
                </a:solidFill>
              </a:defRPr>
            </a:pPr>
            <a:r>
              <a:t>02. The Human Agronomist Bottleneck</a:t>
            </a:r>
          </a:p>
          <a:p>
            <a:pPr>
              <a:spcBef>
                <a:spcPts val="1400"/>
              </a:spcBef>
              <a:defRPr sz="1100">
                <a:solidFill>
                  <a:srgbClr val="0F172A"/>
                </a:solidFill>
              </a:defRPr>
            </a:pPr>
            <a:r>
              <a:t>Certified plant pathologists are scarce and geographically inaccessible to most remote agricultural regions.</a:t>
            </a:r>
            <a:br/>
            <a:br/>
            <a:r>
              <a:t>Visual manual inspection is slow, subjective, and prone to misdiagnosis between diseases with visually similar lesions (e.g., Early vs Late Blight).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371600"/>
            <a:ext cx="3429000" cy="484632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600200"/>
            <a:ext cx="2971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C2626"/>
                </a:solidFill>
              </a:defRPr>
            </a:pPr>
            <a:r>
              <a:t>03. Where Typical AI Projects Fail</a:t>
            </a:r>
          </a:p>
          <a:p>
            <a:pPr>
              <a:spcBef>
                <a:spcPts val="1400"/>
              </a:spcBef>
              <a:defRPr sz="1100">
                <a:solidFill>
                  <a:srgbClr val="0F172A"/>
                </a:solidFill>
              </a:defRPr>
            </a:pPr>
            <a:r>
              <a:t>Most research models remain in isolated Jupyter notebooks with zero usability.</a:t>
            </a:r>
            <a:br/>
            <a:br/>
            <a:r>
              <a:t>They act as 'black boxes' without explaining why a decision was reached, provide no actionable remedies to farmers, and hallucinate wild predictions on non-plant images.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DATA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Dataset Scale: 87,000+ Multi-Crop Pathology Images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120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0020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59669"/>
                </a:solidFill>
              </a:defRPr>
            </a:pPr>
            <a:r>
              <a:t>Massive Scale &amp; Volume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87,000+ labeled leaf specimens automatically scraped and downloaded via KaggleHub API integration, completely removing artificial prototype limits.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2120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563EB"/>
                </a:solidFill>
              </a:defRPr>
            </a:pPr>
            <a:r>
              <a:t>38 Pathological Classes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Spans 14 commercial crop varieties: Apple, Blueberry, Cherry, Corn, Grape, Orange, Peach, Bell Pepper, Potato, Raspberry, Soybean, Squash, Strawberry, and Tomato.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2120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06908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97706"/>
                </a:solidFill>
              </a:defRPr>
            </a:pPr>
            <a:r>
              <a:t>Full Pathogen Diversity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Covers complex pathology types: Fungal (Blights, Rusts, Mildews), Bacterial (Spots), Viral (Mosaic, Yellow Leaf Curl), and Arachnid pests (Spider Mites).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840480"/>
            <a:ext cx="52120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06908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5CF6"/>
                </a:solidFill>
              </a:defRPr>
            </a:pPr>
            <a:r>
              <a:t>Stratified Split &amp; Leakage Prevention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Strict 80% Train, 10% Validation, 10% Test split. Deduplicated image paths ensuring zero data leakage between train and test distributions.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BOTANICAL PATHOLOGY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Supported Agricultural Scope: 14 Crop Species &amp; 38 Pathologies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146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536192"/>
            <a:ext cx="2240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59669"/>
                </a:solidFill>
              </a:defRPr>
            </a:pPr>
            <a:r>
              <a:t>🍎 Tree &amp; Orchard Fruits</a:t>
            </a:r>
          </a:p>
          <a:p>
            <a:pPr>
              <a:spcBef>
                <a:spcPts val="200"/>
              </a:spcBef>
              <a:defRPr sz="850" b="1">
                <a:solidFill>
                  <a:srgbClr val="64748B"/>
                </a:solidFill>
              </a:defRPr>
            </a:pPr>
            <a:r>
              <a:t>9 PATHOLOGICAL CLASSES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</a:defRPr>
            </a:pPr>
            <a:r>
              <a:t>Apple (4 Classes):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Apple Scab (Venturia)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Black Rot (Botryosphaeria)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Cedar Apple Rust (Gymno.)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Apple Foliage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</a:defRPr>
            </a:pPr>
            <a:r>
              <a:t>Cherry (2 Classes):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Powdery Mildew (Podosphaera)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Cherry Foliage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</a:defRPr>
            </a:pPr>
            <a:r>
              <a:t>Peach (2 Classes):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Bacterial Spot (Xanthomonas)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Peach Foliage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Blueberry (1 Class):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Blueberry Foliage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371600"/>
            <a:ext cx="25146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536192"/>
            <a:ext cx="2240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🌽 Grains, Vines &amp; Citrus</a:t>
            </a:r>
          </a:p>
          <a:p>
            <a:pPr>
              <a:spcBef>
                <a:spcPts val="200"/>
              </a:spcBef>
              <a:defRPr sz="850" b="1">
                <a:solidFill>
                  <a:srgbClr val="64748B"/>
                </a:solidFill>
              </a:defRPr>
            </a:pPr>
            <a:r>
              <a:t>11 PATHOLOGICAL CLASSES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</a:defRPr>
            </a:pPr>
            <a:r>
              <a:t>Corn / Maize (4 Classes):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Gray Leaf Spot (Cercospora)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Common Rust (Puccinia)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Northern Leaf Blight (Exsero.)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Corn Foliage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</a:defRPr>
            </a:pPr>
            <a:r>
              <a:t>Grape (4 Classes):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Black Rot (Guignardia)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Esca / Black Measles (Trunk)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Leaf Blight (Isariopsis)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Grape Foliage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Orange (1 Class):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Citrus Greening (HLB Bacteria)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</a:defRPr>
            </a:pPr>
            <a:r>
              <a:t>Bell Pepper (2 Classes):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Bacterial Spot (Xanthomonas)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Bell Pepper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25146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536192"/>
            <a:ext cx="2240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97706"/>
                </a:solidFill>
              </a:defRPr>
            </a:pPr>
            <a:r>
              <a:t>🥔 Tubers, Berries &amp; Row Crops</a:t>
            </a:r>
          </a:p>
          <a:p>
            <a:pPr>
              <a:spcBef>
                <a:spcPts val="200"/>
              </a:spcBef>
              <a:defRPr sz="850" b="1">
                <a:solidFill>
                  <a:srgbClr val="64748B"/>
                </a:solidFill>
              </a:defRPr>
            </a:pPr>
            <a:r>
              <a:t>8 PATHOLOGICAL CLASSES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</a:defRPr>
            </a:pPr>
            <a:r>
              <a:t>Potato (3 Classes):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Early Blight (Alternaria)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Late Blight (Phytophthora)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Potato Foliage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</a:defRPr>
            </a:pPr>
            <a:r>
              <a:t>Strawberry (2 Classes):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Leaf Scorch (Diplocarpon)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Strawberry Foliage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Squash (1 Class):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Powdery Mildew (Podosphaera)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Soybean (1 Class):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Soybean Foliage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Raspberry (1 Class):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Raspberry Foliage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371600"/>
            <a:ext cx="25146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536192"/>
            <a:ext cx="2240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C2626"/>
                </a:solidFill>
              </a:defRPr>
            </a:pPr>
            <a:r>
              <a:t>🍅 Flagship Host: Tomato</a:t>
            </a:r>
          </a:p>
          <a:p>
            <a:pPr>
              <a:spcBef>
                <a:spcPts val="200"/>
              </a:spcBef>
              <a:defRPr sz="850" b="1">
                <a:solidFill>
                  <a:srgbClr val="64748B"/>
                </a:solidFill>
              </a:defRPr>
            </a:pPr>
            <a:r>
              <a:t>10 PATHOLOGICAL CLASSES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</a:defRPr>
            </a:pPr>
            <a:r>
              <a:t>Tomato (Comprehensive Spectrum):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Bacterial Spot (Xanthomonas)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Early Blight (Alternaria)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Late Blight (Phytophthora)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Leaf Mold (Passalora)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Septoria Leaf Spot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Two-Spotted Spider Mite (Pest)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Target Spot (Corynespora)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Yellow Leaf Curl Virus (TYLCV)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Mosaic Virus (ToMV)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Tomato Foliage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MODEL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Why EfficientNetV2-S Outperforms Existing Models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42900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2971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ResNet-50 / ResNet-101</a:t>
            </a:r>
          </a:p>
          <a:p>
            <a:pPr>
              <a:spcBef>
                <a:spcPts val="400"/>
              </a:spcBef>
              <a:defRPr sz="900" b="1">
                <a:solidFill>
                  <a:srgbClr val="64748B"/>
                </a:solidFill>
              </a:defRPr>
            </a:pPr>
            <a:r>
              <a:t>TRADITIONAL STANDARD</a:t>
            </a:r>
          </a:p>
          <a:p>
            <a:pPr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- Massive parameter footprint (44.5M - 60M parameters).</a:t>
            </a:r>
            <a:br/>
            <a:r>
              <a:t>- Uses standard heavy 3x3 convs throughout.</a:t>
            </a:r>
            <a:br/>
            <a:r>
              <a:t>- Slower training time and prone to early plateau on micro-lesions.</a:t>
            </a:r>
            <a:br/>
            <a:r>
              <a:t>- High latency on mobile and embedded farm devices.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71600"/>
            <a:ext cx="342900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00200"/>
            <a:ext cx="2971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Vision Transformers (ViT)</a:t>
            </a:r>
          </a:p>
          <a:p>
            <a:pPr>
              <a:spcBef>
                <a:spcPts val="400"/>
              </a:spcBef>
              <a:defRPr sz="900" b="1">
                <a:solidFill>
                  <a:srgbClr val="64748B"/>
                </a:solidFill>
              </a:defRPr>
            </a:pPr>
            <a:r>
              <a:t>ATTENTION-BASED STANDARD</a:t>
            </a:r>
          </a:p>
          <a:p>
            <a:pPr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- High peak accuracy on massive datasets.</a:t>
            </a:r>
            <a:br/>
            <a:r>
              <a:t>- Requires 300M+ images (JFT/ImageNet-21k) to avoid overfitting.</a:t>
            </a:r>
            <a:br/>
            <a:r>
              <a:t>- Lack of inductive bias requires immense training data.</a:t>
            </a:r>
            <a:br/>
            <a:r>
              <a:t>- Heavy quadratic attention memory footprint; slow inference.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371600"/>
            <a:ext cx="3429000" cy="48463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600200"/>
            <a:ext cx="2971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59669"/>
                </a:solidFill>
              </a:defRPr>
            </a:pPr>
            <a:r>
              <a:t>EfficientNetV2-S (Our Model)</a:t>
            </a:r>
          </a:p>
          <a:p>
            <a:pPr>
              <a:spcBef>
                <a:spcPts val="400"/>
              </a:spcBef>
              <a:defRPr sz="900" b="1">
                <a:solidFill>
                  <a:srgbClr val="059669"/>
                </a:solidFill>
              </a:defRPr>
            </a:pPr>
            <a:r>
              <a:t>STATE-OF-THE-ART CHOICE</a:t>
            </a:r>
          </a:p>
          <a:p>
            <a:pPr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+ Fused-MBConv Layers: Replaces early depthwise convs, drastically speeding up training.</a:t>
            </a:r>
            <a:br/>
            <a:r>
              <a:t>+ Training-Aware NAS: Jointly optimizes accuracy, parameter size, and modern GPU throughput.</a:t>
            </a:r>
            <a:br/>
            <a:r>
              <a:t>+ 52% Fewer Parameters than ResNet-101 (Only 20.23M parameters).</a:t>
            </a:r>
            <a:br/>
            <a:r>
              <a:t>+ Progressive regularization prevents overfitting on subtle plant textures.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DEEP ARCHITECTURE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EfficientNetV2-S: Stage, Layer, Filter &amp; Parameter Specs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291840" cy="484632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59669"/>
                </a:solidFill>
              </a:defRPr>
            </a:pPr>
            <a:r>
              <a:t>Model Specifications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Total Parameters: 20,226,166 (~20.23M)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Trainable Parameters: 20,226,166 (100%)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Input Tensor: 3 x 224 x 224 (RGB)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Feature Head Channels: 1,280 Filters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Output Classes: 38 Plant Health Categories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Convolution Types: Fused-MBConv &amp; MBConv + SE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Activation Function: SiLU (Swish) across all stages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Padding Strategy: Padding=1 on 3x3 ('Same' pad)</a:t>
            </a:r>
            <a:br/>
            <a:r>
              <a:t>Padding=0 on 1x1 Projections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371600"/>
            <a:ext cx="7223760" cy="4754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0" y="1417320"/>
            <a:ext cx="7040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Stage 0: Stem Conv   |   Conv2d 3x3 | Stride 2 | Pad 1   |   3 -&gt; 24 Filters   |   Res: 112 x 112   |   Params: 1,776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1901952"/>
            <a:ext cx="7223760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947672"/>
            <a:ext cx="7040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Stage 1: Fused-MBConv (2 blk)   |   Conv 3x3 + 1x1 | Stride 1 | Pad 1   |   24 -&gt; 24 Filters   |   Res: 112 x 112   |   Params: 10,464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2432304"/>
            <a:ext cx="7223760" cy="4754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2478024"/>
            <a:ext cx="7040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Stage 2: Fused-MBConv (4 blk)   |   Conv 3x3 + 1x1 | Stride 2 | Pad 1   |   24 -&gt; 48 Filters   |   Res: 56 x 56   |   Params: 303,552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2962656"/>
            <a:ext cx="7223760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3008375"/>
            <a:ext cx="7040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Stage 3: Fused-MBConv (4 blk)   |   Conv 3x3 + 1x1 | Stride 2 | Pad 1   |   48 -&gt; 64 Filters   |   Res: 28 x 28   |   Params: 589,184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0" y="3493008"/>
            <a:ext cx="7223760" cy="4754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3538727"/>
            <a:ext cx="7040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Stage 4: MBConv + SE (6 blk)   |   Depthwise 3x3 + SE | Stride 2 | Pad 1   |   64 -&gt; 128 Filters   |   Res: 14 x 14   |   Params: 917,680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4023360"/>
            <a:ext cx="7223760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0" y="4069080"/>
            <a:ext cx="7040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Stage 5: MBConv + SE (9 blk)   |   Depthwise 3x3 + SE | Stride 1 | Pad 1   |   128 -&gt; 160 Filters   |   Res: 14 x 14   |   Params: 3,463,840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6240" y="4553712"/>
            <a:ext cx="7223760" cy="4754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80" y="4599431"/>
            <a:ext cx="7040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Stage 6: MBConv + SE (15 blk)   |   Depthwise 3x3 + SE | Stride 2 | Pad 1   |   160 -&gt; 256 Filters   |   Res: 7 x 7   |   Params: 14,561,832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06240" y="5084064"/>
            <a:ext cx="7223760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5129783"/>
            <a:ext cx="7040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Stage 7: Head Conv   |   Conv2d 1x1 | Stride 1 | Pad 0   |   256 -&gt; 1,280 Filters   |   Res: 7 x 7   |   Params: 330,240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06240" y="5614416"/>
            <a:ext cx="7223760" cy="4754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7680" y="5660136"/>
            <a:ext cx="7040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59669"/>
                </a:solidFill>
              </a:defRPr>
            </a:pPr>
            <a:r>
              <a:t>Classifier Head   |   AdaptiveAvgPool2d + Dropout(0.2) + Linear   |   1,280 -&gt; 38 Classes   |   Res: 1 x 1   |   Params: 48,678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HIERARCHICAL FEATURE EXTRACTION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How EfficientNetV2 Analyzes Botanical Leaf Pathology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146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2148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9669"/>
                </a:solidFill>
              </a:defRPr>
            </a:pPr>
            <a:r>
              <a:t>Level 1: Low-Level Morphology</a:t>
            </a:r>
          </a:p>
          <a:p>
            <a:pPr>
              <a:spcBef>
                <a:spcPts val="300"/>
              </a:spcBef>
              <a:defRPr sz="950" b="1">
                <a:solidFill>
                  <a:srgbClr val="64748B"/>
                </a:solidFill>
              </a:defRPr>
            </a:pPr>
            <a:r>
              <a:t>Stages 0 to 2 (Stem &amp; Shallow Fused-MBConv)</a:t>
            </a:r>
          </a:p>
          <a:p>
            <a:pPr>
              <a:spcBef>
                <a:spcPts val="1000"/>
              </a:spcBef>
              <a:defRPr sz="1000">
                <a:solidFill>
                  <a:srgbClr val="0F172A"/>
                </a:solidFill>
              </a:defRPr>
            </a:pPr>
            <a:r>
              <a:t>Filters detect primary botanical boundaries: leaf contour, healthy chlorophyll green gradients, petiole stems, and boundary separation from background surfaces.</a:t>
            </a:r>
            <a:br/>
            <a:br/>
            <a:r>
              <a:t>Filters operate at high resolution (112x112 down to 56x56) preserving fine structural edges.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371600"/>
            <a:ext cx="25146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554480"/>
            <a:ext cx="2148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Level 2: Mid-Level Texture &amp; Chlorosis</a:t>
            </a:r>
          </a:p>
          <a:p>
            <a:pPr>
              <a:spcBef>
                <a:spcPts val="300"/>
              </a:spcBef>
              <a:defRPr sz="950" b="1">
                <a:solidFill>
                  <a:srgbClr val="64748B"/>
                </a:solidFill>
              </a:defRPr>
            </a:pPr>
            <a:r>
              <a:t>Stages 3 to 4 (Fused-MBConv &amp; MBConv + SE)</a:t>
            </a:r>
          </a:p>
          <a:p>
            <a:pPr>
              <a:spcBef>
                <a:spcPts val="1000"/>
              </a:spcBef>
              <a:defRPr sz="1000">
                <a:solidFill>
                  <a:srgbClr val="0F172A"/>
                </a:solidFill>
              </a:defRPr>
            </a:pPr>
            <a:r>
              <a:t>Detects leaf venation networks, surface roughness, interveinal chlorosis (yellowing), and early necrotic flecks.</a:t>
            </a:r>
            <a:br/>
            <a:br/>
            <a:r>
              <a:t>Resolution reduces to 28x28 and 14x14 while channel depth expands to 64 and 128 filters.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25146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554480"/>
            <a:ext cx="2148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Level 3: High-Level Pathological Lesions</a:t>
            </a:r>
          </a:p>
          <a:p>
            <a:pPr>
              <a:spcBef>
                <a:spcPts val="300"/>
              </a:spcBef>
              <a:defRPr sz="950" b="1">
                <a:solidFill>
                  <a:srgbClr val="64748B"/>
                </a:solidFill>
              </a:defRPr>
            </a:pPr>
            <a:r>
              <a:t>Stages 5 to 6 (Deep MBConv with Squeeze-and-Excitation)</a:t>
            </a:r>
          </a:p>
          <a:p>
            <a:pPr>
              <a:spcBef>
                <a:spcPts val="1000"/>
              </a:spcBef>
              <a:defRPr sz="1000">
                <a:solidFill>
                  <a:srgbClr val="0F172A"/>
                </a:solidFill>
              </a:defRPr>
            </a:pPr>
            <a:r>
              <a:t>Learns intricate disease signatures: concentric bullseye rings of Early Blight, fuzzy oomycete sporangia of Late Blight, powdery mildew talcum blankets, and leaf scorch margins.</a:t>
            </a:r>
            <a:br/>
            <a:br/>
            <a:r>
              <a:t>15 blocks in Stage 6 extract highly abstract visual representations at 7x7 spatial grid.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371600"/>
            <a:ext cx="25146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6840" y="1554480"/>
            <a:ext cx="2148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B5CF6"/>
                </a:solidFill>
              </a:defRPr>
            </a:pPr>
            <a:r>
              <a:t>Level 4: Squeeze-and-Excitation Attention</a:t>
            </a:r>
          </a:p>
          <a:p>
            <a:pPr>
              <a:spcBef>
                <a:spcPts val="300"/>
              </a:spcBef>
              <a:defRPr sz="950" b="1">
                <a:solidFill>
                  <a:srgbClr val="64748B"/>
                </a:solidFill>
              </a:defRPr>
            </a:pPr>
            <a:r>
              <a:t>Channel-Wise Feature Recalibration</a:t>
            </a:r>
          </a:p>
          <a:p>
            <a:pPr>
              <a:spcBef>
                <a:spcPts val="1000"/>
              </a:spcBef>
              <a:defRPr sz="1000">
                <a:solidFill>
                  <a:srgbClr val="0F172A"/>
                </a:solidFill>
              </a:defRPr>
            </a:pPr>
            <a:r>
              <a:t>SE blocks dynamically weight each channel: they automatically amplify feature maps containing lesion signals while suppressing irrelevant healthy leaf tissue.</a:t>
            </a:r>
            <a:br/>
            <a:br/>
            <a:r>
              <a:t>Followed by Global Average Pooling (1280-D vector) and Softmax projection over 38 classes.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DEEP LEARNING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Advanced Training Engineering: 4 SOTA Pillars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120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59669"/>
                </a:solidFill>
              </a:defRPr>
            </a:pPr>
            <a:r>
              <a:t>01. Automatic Mixed Precision (AMP)</a:t>
            </a:r>
          </a:p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t>Utilized torch.amp.autocast and GradScaler with FP16 math on GPU Tensor Cores.</a:t>
            </a:r>
          </a:p>
          <a:p>
            <a:pPr>
              <a:spcBef>
                <a:spcPts val="600"/>
              </a:spcBef>
              <a:defRPr sz="1000" b="1">
                <a:solidFill>
                  <a:srgbClr val="059669"/>
                </a:solidFill>
              </a:defRPr>
            </a:pPr>
            <a:r>
              <a:t>Impact: Cuts memory consumption in half and accelerates training speed by 2.2x without precision loss.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2120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02. OneCycleLR Super-Convergence</a:t>
            </a:r>
          </a:p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t>Dynamic learning rate that ramps up to 1e-3 before cosine-decaying down over epochs.</a:t>
            </a:r>
          </a:p>
          <a:p>
            <a:pPr>
              <a:spcBef>
                <a:spcPts val="600"/>
              </a:spcBef>
              <a:defRPr sz="1000" b="1">
                <a:solidFill>
                  <a:srgbClr val="059669"/>
                </a:solidFill>
              </a:defRPr>
            </a:pPr>
            <a:r>
              <a:t>Impact: Allows the model to rapidly jump over sharp local minima and settle in a robust, wide basin.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2120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02336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B5CF6"/>
                </a:solidFill>
              </a:defRPr>
            </a:pPr>
            <a:r>
              <a:t>03. Label Smoothing Regularization</a:t>
            </a:r>
          </a:p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t>Softened hard ground-truth targets (1.0 -&gt; 0.9) with smoothing factor = 0.1.</a:t>
            </a:r>
          </a:p>
          <a:p>
            <a:pPr>
              <a:spcBef>
                <a:spcPts val="600"/>
              </a:spcBef>
              <a:defRPr sz="1000" b="1">
                <a:solidFill>
                  <a:srgbClr val="059669"/>
                </a:solidFill>
              </a:defRPr>
            </a:pPr>
            <a:r>
              <a:t>Impact: Directly prevents the network from becoming overconfident, dramatically boosting test generalization.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840480"/>
            <a:ext cx="52120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02336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97706"/>
                </a:solidFill>
              </a:defRPr>
            </a:pPr>
            <a:r>
              <a:t>04. AdamW &amp; Advanced Augmentations</a:t>
            </a:r>
          </a:p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t>Decoupled weight decay (1e-4) alongside ColorJitter, Random Flips, and Resized Crops.</a:t>
            </a:r>
          </a:p>
          <a:p>
            <a:pPr>
              <a:spcBef>
                <a:spcPts val="600"/>
              </a:spcBef>
              <a:defRPr sz="1000" b="1">
                <a:solidFill>
                  <a:srgbClr val="059669"/>
                </a:solidFill>
              </a:defRPr>
            </a:pPr>
            <a:r>
              <a:t>Impact: Forces the network to learn true morphological leaf features rather than lighting or studio artifacts.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EMPIRICAL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Training Results: 99.94% Validation Accuracy</a:t>
            </a:r>
          </a:p>
        </p:txBody>
      </p:sp>
      <p:pic>
        <p:nvPicPr>
          <p:cNvPr id="5" name="Picture 4" descr="sota_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858000" cy="4846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371600"/>
            <a:ext cx="356616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50876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59669"/>
                </a:solidFill>
              </a:defRPr>
            </a:pPr>
            <a:r>
              <a:t>99.94%</a:t>
            </a:r>
          </a:p>
          <a:p>
            <a:pPr>
              <a:spcBef>
                <a:spcPts val="200"/>
              </a:spcBef>
              <a:defRPr sz="1100" b="1">
                <a:solidFill>
                  <a:srgbClr val="0F172A"/>
                </a:solidFill>
              </a:defRPr>
            </a:pPr>
            <a:r>
              <a:t>Peak Validation Accuracy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Recorded at Epoch 10 across 38 diverse classes.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3017520"/>
            <a:ext cx="356616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3154679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563EB"/>
                </a:solidFill>
              </a:defRPr>
            </a:pPr>
            <a:r>
              <a:t>0.6748</a:t>
            </a:r>
          </a:p>
          <a:p>
            <a:pPr>
              <a:spcBef>
                <a:spcPts val="200"/>
              </a:spcBef>
              <a:defRPr sz="1100" b="1">
                <a:solidFill>
                  <a:srgbClr val="0F172A"/>
                </a:solidFill>
              </a:defRPr>
            </a:pPr>
            <a:r>
              <a:t>Final Validation Loss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Steady decline demonstrating smooth convergence.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4663440"/>
            <a:ext cx="356616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480060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8B5CF6"/>
                </a:solidFill>
              </a:defRPr>
            </a:pPr>
            <a:r>
              <a:t>Super-Fast Convergence</a:t>
            </a:r>
          </a:p>
          <a:p>
            <a:pPr>
              <a:spcBef>
                <a:spcPts val="200"/>
              </a:spcBef>
              <a:defRPr sz="1100" b="1">
                <a:solidFill>
                  <a:srgbClr val="0F172A"/>
                </a:solidFill>
              </a:defRPr>
            </a:pPr>
            <a:r>
              <a:t>Hit 99.20% by Epoch 4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OneCycleLR enabled lightning-fast learning.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EXPLAINABLE AI (XAI)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Grad-CAM: Transparent Botanical Attention Heatmaps</a:t>
            </a:r>
          </a:p>
        </p:txBody>
      </p:sp>
      <p:pic>
        <p:nvPicPr>
          <p:cNvPr id="5" name="Picture 4" descr="gradcam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217920" cy="4846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223760" y="1371600"/>
            <a:ext cx="42062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1508760"/>
            <a:ext cx="3840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The 'Black Box' Agronomy Dilemma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Farmers and agricultural extension officers will not trust an AI that outputs a blind label. They need to verify that the model looked at actual diseased leaf tissue rather than background noise.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0" y="3017520"/>
            <a:ext cx="42062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0" y="3154679"/>
            <a:ext cx="3840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How Our Grad-CAM Hooks Work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We register PyTorch backward hooks on the final convolutional layer (model.features[-1]). Gradients flow backwards to compute importance weights for each feature activation map.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0" y="4663440"/>
            <a:ext cx="42062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0" y="4800600"/>
            <a:ext cx="3840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9669"/>
                </a:solidFill>
              </a:defRPr>
            </a:pPr>
            <a:r>
              <a:t>Clinical Lesion Localization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Applies ReLU and bilinear upsampling to generate an intuitive red/yellow heat overlay directly pointing to leaf spots, scorch margins, and fungal spore patches.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DEPLOYMENT &amp; 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CropSense AI: End-to-End Field-Ready Web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146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2148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9669"/>
                </a:solidFill>
              </a:defRPr>
            </a:pPr>
            <a:r>
              <a:t>1. Live Field Camera Input</a:t>
            </a:r>
          </a:p>
          <a:p>
            <a:pPr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Integrated st.camera_input allowing real-time photo capture from farmers' mobile phones or tablets directly in the field alongside disk upload.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371600"/>
            <a:ext cx="25146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554480"/>
            <a:ext cx="2148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2. Actionable Agronomic Remedies</a:t>
            </a:r>
          </a:p>
          <a:p>
            <a:pPr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Built-in pathology database: Provides causative pathogen identification, organic controls (Neem, Bacillus), chemical sprays, and cultural prevention.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25146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554480"/>
            <a:ext cx="2148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3. Quality &amp; Multi-Leaf Gatekeeper</a:t>
            </a:r>
          </a:p>
          <a:p>
            <a:pPr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Advanced morphological contour segmentation detects and rejects non-plant images and multiple-leaf clusters with an explicit warning: 'Something is wrong with the uploaded image', guiding users to isolated single leaves.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371600"/>
            <a:ext cx="25146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6840" y="1554480"/>
            <a:ext cx="2148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B5CF6"/>
                </a:solidFill>
              </a:defRPr>
            </a:pPr>
            <a:r>
              <a:t>4. Instant Diagnostic PDF Reports</a:t>
            </a:r>
          </a:p>
          <a:p>
            <a:pPr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One-click compilation of an official PDF report with original leaf photos, Grad-CAM heatmaps, confidence charts, and prescription steps.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PROJECT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What is GOOD in This Project (Key Strengths)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12080" cy="22402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59669"/>
                </a:solidFill>
              </a:defRPr>
            </a:pPr>
            <a:r>
              <a:t>[+] Exceptional Diagnostic Accuracy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Achieved 99.94% validation accuracy across 38 categories, matching or exceeding published academic benchmarks on the New Plant Diseases Dataset.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212080" cy="22402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59669"/>
                </a:solidFill>
              </a:defRPr>
            </a:pPr>
            <a:r>
              <a:t>[+] Full-Stack Actionability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Not merely an abstract research classifier. Delivers immediate value to end-users via organic/chemical treatments and downloadable PDF agronomy reports.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212080" cy="22402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02336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59669"/>
                </a:solidFill>
              </a:defRPr>
            </a:pPr>
            <a:r>
              <a:t>[+] Transparent &amp; Trustworthy (XAI)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Grad-CAM visual overlays remove the black-box stigma, allowing growers and agricultural inspectors to visually confirm where disease symptoms lie.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840480"/>
            <a:ext cx="5212080" cy="22402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02336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59669"/>
                </a:solidFill>
              </a:defRPr>
            </a:pPr>
            <a:r>
              <a:t>[+] Modern &amp; Efficient Engineering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Utilizes EfficientNetV2-S with AMP (FP16) and OneCycleLR, resulting in a lightweight 20.23M parameter model capable of fast, sub-second inference.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CRITICAL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What is BAD in This Project (Honest Limitations)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12080" cy="22402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C2626"/>
                </a:solidFill>
              </a:defRPr>
            </a:pPr>
            <a:r>
              <a:t>[-] Controlled Background Bias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Most training images have uniform laboratory/neutral backgrounds. In dense wild fields with complex backgrounds (soil, weeds, shadows), accuracy can degrade.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212080" cy="22402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C2626"/>
                </a:solidFill>
              </a:defRPr>
            </a:pPr>
            <a:r>
              <a:t>[-] Single-Leaf Close-Up Constraint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The model requires an isolated, centered leaf image. It cannot currently scan an entire orchard tree canopy or field from drone/aerial imagery.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212080" cy="22402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02336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97706"/>
                </a:solidFill>
              </a:defRPr>
            </a:pPr>
            <a:r>
              <a:t>[-] Closed-World Taxonomy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Though protected by our color heuristic, the network still maps any botanical leaf to its 38 classes. Unseen crops (e.g., Mango, Rice) will be forced to the closest match.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840480"/>
            <a:ext cx="5212080" cy="22402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02336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97706"/>
                </a:solidFill>
              </a:defRPr>
            </a:pPr>
            <a:r>
              <a:t>[-] Single-Disease Assumption (No Co-Infections)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Plants often suffer simultaneous multi-pathogen attacks (e.g., Mites + Early Blight). The model is single-label multi-class, predicting only the dominant symptom.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ENGINEERING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Future Improvements: Evolving to Industrial AgTech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4290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2971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563EB"/>
                </a:solidFill>
              </a:defRPr>
            </a:pPr>
            <a:r>
              <a:t>1. Object Detection (YOLOv10)</a:t>
            </a:r>
          </a:p>
          <a:p>
            <a:pPr>
              <a:spcBef>
                <a:spcPts val="1400"/>
              </a:spcBef>
              <a:defRPr sz="1100">
                <a:solidFill>
                  <a:srgbClr val="0F172A"/>
                </a:solidFill>
              </a:defRPr>
            </a:pPr>
            <a:r>
              <a:t>Transition from image classification to bounding-box object detection. Allows farmers to point their camera at a whole plant and simultaneously detect multiple diseased leaves with severity counting.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71600"/>
            <a:ext cx="34290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00200"/>
            <a:ext cx="2971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59669"/>
                </a:solidFill>
              </a:defRPr>
            </a:pPr>
            <a:r>
              <a:t>2. Edge Quantization (INT8 / ONNX)</a:t>
            </a:r>
          </a:p>
          <a:p>
            <a:pPr>
              <a:spcBef>
                <a:spcPts val="1400"/>
              </a:spcBef>
              <a:defRPr sz="1100">
                <a:solidFill>
                  <a:srgbClr val="0F172A"/>
                </a:solidFill>
              </a:defRPr>
            </a:pPr>
            <a:r>
              <a:t>Quantize model weights to 8-bit integers and export to ONNX/TensorRT. Enables true offline execution on low-cost Android phones with zero internet connection in remote farmlands.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371600"/>
            <a:ext cx="34290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600200"/>
            <a:ext cx="2971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5CF6"/>
                </a:solidFill>
              </a:defRPr>
            </a:pPr>
            <a:r>
              <a:t>3. Multimodal Agronomist Assistant</a:t>
            </a:r>
          </a:p>
          <a:p>
            <a:pPr>
              <a:spcBef>
                <a:spcPts val="1400"/>
              </a:spcBef>
              <a:defRPr sz="1100">
                <a:solidFill>
                  <a:srgbClr val="0F172A"/>
                </a:solidFill>
              </a:defRPr>
            </a:pPr>
            <a:r>
              <a:t>Integrate small language models (SLMs) to allow conversational agronomic follow-ups ('How often should I apply copper spray if it rains tomorrow?').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SUMMARY &amp;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1F5F9"/>
                </a:solidFill>
              </a:defRPr>
            </a:pPr>
            <a:r>
              <a:t>Project Conclusion &amp; Live Demonstration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621792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0020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Summary of Deliverables</a:t>
            </a:r>
          </a:p>
          <a:p>
            <a:pPr>
              <a:spcBef>
                <a:spcPts val="700"/>
              </a:spcBef>
              <a:defRPr sz="1150">
                <a:solidFill>
                  <a:srgbClr val="E2E8F0"/>
                </a:solidFill>
              </a:defRPr>
            </a:pPr>
            <a:r>
              <a:t>- Delivered a complete, functioning SOTA crop pathology platform.</a:t>
            </a:r>
          </a:p>
          <a:p>
            <a:pPr>
              <a:spcBef>
                <a:spcPts val="700"/>
              </a:spcBef>
              <a:defRPr sz="1150">
                <a:solidFill>
                  <a:srgbClr val="E2E8F0"/>
                </a:solidFill>
              </a:defRPr>
            </a:pPr>
            <a:r>
              <a:t>- 87,000+ images trained across 38 disease &amp; healthy categories.</a:t>
            </a:r>
          </a:p>
          <a:p>
            <a:pPr>
              <a:spcBef>
                <a:spcPts val="700"/>
              </a:spcBef>
              <a:defRPr sz="1150">
                <a:solidFill>
                  <a:srgbClr val="E2E8F0"/>
                </a:solidFill>
              </a:defRPr>
            </a:pPr>
            <a:r>
              <a:t>- EfficientNetV2-S achieved 99.94% accuracy with AMP &amp; OneCycleLR.</a:t>
            </a:r>
          </a:p>
          <a:p>
            <a:pPr>
              <a:spcBef>
                <a:spcPts val="700"/>
              </a:spcBef>
              <a:defRPr sz="1150">
                <a:solidFill>
                  <a:srgbClr val="E2E8F0"/>
                </a:solidFill>
              </a:defRPr>
            </a:pPr>
            <a:r>
              <a:t>- Detailed architecture specs: 20.23M parameters, Fused-MBConv &amp; SE attention.</a:t>
            </a:r>
          </a:p>
          <a:p>
            <a:pPr>
              <a:spcBef>
                <a:spcPts val="700"/>
              </a:spcBef>
              <a:defRPr sz="1150">
                <a:solidFill>
                  <a:srgbClr val="E2E8F0"/>
                </a:solidFill>
              </a:defRPr>
            </a:pPr>
            <a:r>
              <a:t>- Explainable AI via Grad-CAM eliminates black-box guesswork.</a:t>
            </a:r>
          </a:p>
          <a:p>
            <a:pPr>
              <a:spcBef>
                <a:spcPts val="700"/>
              </a:spcBef>
              <a:defRPr sz="1150">
                <a:solidFill>
                  <a:srgbClr val="E2E8F0"/>
                </a:solidFill>
              </a:defRPr>
            </a:pPr>
            <a:r>
              <a:t>- Full web app with live camera capture &amp; downloadable PDF prescriptions.</a:t>
            </a:r>
          </a:p>
          <a:p>
            <a:pPr>
              <a:spcBef>
                <a:spcPts val="700"/>
              </a:spcBef>
              <a:defRPr sz="1150">
                <a:solidFill>
                  <a:srgbClr val="E2E8F0"/>
                </a:solidFill>
              </a:defRPr>
            </a:pPr>
            <a:r>
              <a:t>- Honest assessment of background bias and single-leaf constraints documented.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371600"/>
            <a:ext cx="42062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160020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60A5FA"/>
                </a:solidFill>
              </a:defRPr>
            </a:pPr>
            <a:r>
              <a:t>Ready for Live Demo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</a:defRPr>
            </a:pPr>
            <a:r>
              <a:t>Application Command:</a:t>
            </a:r>
          </a:p>
          <a:p>
            <a:pPr>
              <a:defRPr sz="1300" b="1">
                <a:solidFill>
                  <a:srgbClr val="10B981"/>
                </a:solidFill>
              </a:defRPr>
            </a:pPr>
            <a:r>
              <a:t>streamlit run app.py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</a:defRPr>
            </a:pPr>
            <a:r>
              <a:t>Local Server URL:</a:t>
            </a:r>
          </a:p>
          <a:p>
            <a:pPr>
              <a:defRPr sz="1300" b="1">
                <a:solidFill>
                  <a:srgbClr val="10B981"/>
                </a:solidFill>
              </a:defRPr>
            </a:pPr>
            <a:r>
              <a:t>http://localhost:8501</a:t>
            </a:r>
          </a:p>
          <a:p>
            <a:br/>
            <a:pPr>
              <a:spcBef>
                <a:spcPts val="1400"/>
              </a:spcBef>
              <a:defRPr sz="1400" b="1">
                <a:solidFill>
                  <a:srgbClr val="F1F5F9"/>
                </a:solidFill>
              </a:defRPr>
            </a:pPr>
            <a:r>
              <a:t>Thank you for your attention!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</a:defRPr>
            </a:pPr>
            <a:r>
              <a:t>Now open for questions &amp; live leaf diagnosis.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