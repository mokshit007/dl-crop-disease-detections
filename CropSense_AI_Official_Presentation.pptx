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237744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1F5F9"/>
                </a:solidFill>
              </a:defRPr>
            </a:pPr>
            <a:r>
              <a:t>RESEARCH &amp; APPLIED DL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</a:defRPr>
            </a:pPr>
            <a:r>
              <a:t>Autonomous Crop Disease Detection</a:t>
            </a:r>
            <a:br/>
            <a:r>
              <a:t>&amp; Plant Pathology AI</a:t>
            </a:r>
          </a:p>
          <a:p>
            <a:pPr>
              <a:spcBef>
                <a:spcPts val="1500"/>
              </a:spcBef>
              <a:defRPr sz="1600">
                <a:solidFill>
                  <a:srgbClr val="94A3B8"/>
                </a:solidFill>
              </a:defRPr>
            </a:pPr>
            <a:r>
              <a:t>A Dual-Attention EfficientNetV2-CBAM Architecture with Adaptive Quality Gatekeeper &amp; Agronomic Prescription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25146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611880"/>
            <a:ext cx="2240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9669"/>
                </a:solidFill>
              </a:defRPr>
            </a:pPr>
            <a:r>
              <a:t>99.94%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Validation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3474720"/>
            <a:ext cx="25146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3611880"/>
            <a:ext cx="2240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563EB"/>
                </a:solidFill>
              </a:defRPr>
            </a:pPr>
            <a:r>
              <a:t>Dual-Attention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CBAM (Spatial+Channel)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474720"/>
            <a:ext cx="25146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3611880"/>
            <a:ext cx="2240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8B5CF6"/>
                </a:solidFill>
              </a:defRPr>
            </a:pPr>
            <a:r>
              <a:t>Two-Stage Pipeline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Morphology Gatekeeper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3474720"/>
            <a:ext cx="25146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3611880"/>
            <a:ext cx="2240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EC4899"/>
                </a:solidFill>
              </a:defRPr>
            </a:pPr>
            <a:r>
              <a:t>Grad-CAM XAI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Lesion Localization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Academic &amp; Technical Defense Presentation | Architectural Innovations &amp; Empirical Baselines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CORE RESEARCH 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Beyond Stock Models: 3 Tangible Engineering Innovations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48463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2563EB"/>
                </a:solidFill>
              </a:defRPr>
            </a:pPr>
            <a:r>
              <a:t>01. Novel Dual-Attention Hybrid</a:t>
            </a:r>
            <a:br/>
            <a:r>
              <a:t>(EfficientNetV2-CBAM)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NOT a Stock Off-The-Shelf Model:</a:t>
            </a:r>
            <a:br/>
            <a:r>
              <a:t>Engineered a custom hybrid architecture combining EfficientNetV2's Fused-MBConv stages with a dual-attention CBAM module.</a:t>
            </a:r>
            <a:br/>
            <a:br/>
            <a:r>
              <a:t>• Mathematical Formulation:</a:t>
            </a:r>
            <a:br/>
            <a:r>
              <a:t>Mc(F) Channel Attention + Ms(F) Spatial Attention with residual bypass.</a:t>
            </a:r>
            <a:br/>
            <a:br/>
            <a:r>
              <a:t>• Targeted Pathology Focus:</a:t>
            </a:r>
            <a:br/>
            <a:r>
              <a:t>Specifically forces the network to calculate 2D spatial attention weights over irregular necrotic lesions, rust pustules, and fungal halos, rather than looking at background leaf wax.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29000" cy="48463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536192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D97706"/>
                </a:solidFill>
              </a:defRPr>
            </a:pPr>
            <a:r>
              <a:t>02. Two-Stage Cascaded Pipeline</a:t>
            </a:r>
            <a:br/>
            <a:r>
              <a:t>(Solves Closed-World Flaw)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Overcoming the 'Closed-World Fallacy':</a:t>
            </a:r>
            <a:br/>
            <a:r>
              <a:t>Almost every published crop disease model hallucinates with 90% confidence when a user uploads a document, screenshot, or cluttered branch with 10 overlapping leaves.</a:t>
            </a:r>
            <a:br/>
            <a:br/>
            <a:r>
              <a:t>• Stage 1 (Adaptive Morphological Gatekeeper):</a:t>
            </a:r>
            <a:br/>
            <a:r>
              <a:t>Runs HSV vegetation filtering &amp; morphological contour clustering to reject non-plant images and multi-leaf clusters BEFORE the neural network sees them.</a:t>
            </a:r>
            <a:br/>
            <a:br/>
            <a:r>
              <a:t>• Stage 2 (Deep Attention Pathology Classifier):</a:t>
            </a:r>
            <a:br/>
            <a:r>
              <a:t>Executes strictly on validated single-leaf specimens.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371600"/>
            <a:ext cx="3429000" cy="4846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536192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59669"/>
                </a:solidFill>
              </a:defRPr>
            </a:pPr>
            <a:r>
              <a:t>03. Full Agronomic Actionability</a:t>
            </a:r>
            <a:br/>
            <a:r>
              <a:t>(Prescription Engine)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Beyond Raw Classification Labels:</a:t>
            </a:r>
            <a:br/>
            <a:r>
              <a:t>Outputting a label alone does not help a grower. We connect every diagnosis directly to its biological pathogen (Fungus / Bacteria / Virus / Pest).</a:t>
            </a:r>
            <a:br/>
            <a:br/>
            <a:r>
              <a:t>• Dual-Track Prescriptions:</a:t>
            </a:r>
            <a:br/>
            <a:r>
              <a:t>Provides immediate Organic &amp; Biological solutions (Neem oil, Bacillus subtilis, canopy aeration) alongside Chemical controls (Mancozeb, Chlorothalonil).</a:t>
            </a:r>
            <a:br/>
            <a:br/>
            <a:r>
              <a:t>• One-Click Diagnostic PDF Reports:</a:t>
            </a:r>
            <a:br/>
            <a:r>
              <a:t>Automated print-ready field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Dataset Scale: 87,000+ Multi-Crop Pathology Images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Massive Scale &amp; Volume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87,000+ labeled leaf specimens automatically scraped and downloaded via KaggleHub API integration, completely removing artificial prototype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2120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38 Pathological Classes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Spans 14 commercial crop varieties: Apple, Blueberry, Cherry, Corn, Grape, Orange, Peach, Bell Pepper, Potato, Raspberry, Soybean, Squash, Strawberry, and Tomato.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120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Full Pathogen Diversity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Covers complex pathology types: Fungal (Blights, Rusts, Mildews), Bacterial (Spots), Viral (Mosaic, Yellow Leaf Curl), and Arachnid pests (Spider Mites).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40480"/>
            <a:ext cx="52120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8B5CF6"/>
                </a:solidFill>
              </a:defRPr>
            </a:pPr>
            <a:r>
              <a:t>Stratified Split &amp; Leakage Prevention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Strict 80% Train, 10% Validation, 10% Test split. Deduplicated image paths ensuring zero data leakage between train and test distributions.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BOTANICAL PATHOLOGY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Supported Agricultural Scope: 14 Crop Species &amp; 38 Pathologies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146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36192"/>
            <a:ext cx="2240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t>🍎 Tree &amp; Orchard Fruits</a:t>
            </a:r>
          </a:p>
          <a:p>
            <a:pPr>
              <a:spcBef>
                <a:spcPts val="200"/>
              </a:spcBef>
              <a:defRPr sz="850" b="1">
                <a:solidFill>
                  <a:srgbClr val="64748B"/>
                </a:solidFill>
              </a:defRPr>
            </a:pPr>
            <a:r>
              <a:t>9 PATHOLOGICAL CLASSES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</a:defRPr>
            </a:pPr>
            <a:r>
              <a:t>Apple (4 Classes):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Apple Scab (Venturia)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Black Rot (Botryosphaeria)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Cedar Apple Rust (Gymno.)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Healthy Apple Foliage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</a:defRPr>
            </a:pPr>
            <a:r>
              <a:t>Cherry (2 Classes):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Powdery Mildew (Podosphaera)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Healthy Cherry Foliage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</a:defRPr>
            </a:pPr>
            <a:r>
              <a:t>Peach (2 Classes):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Bacterial Spot (Xanthomonas)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Healthy Peach Foliage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Blueberry (1 Class):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Healthy Blueberry Foliage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5146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536192"/>
            <a:ext cx="2240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🌽 Grains, Vines &amp; Citrus</a:t>
            </a:r>
          </a:p>
          <a:p>
            <a:pPr>
              <a:spcBef>
                <a:spcPts val="200"/>
              </a:spcBef>
              <a:defRPr sz="850" b="1">
                <a:solidFill>
                  <a:srgbClr val="64748B"/>
                </a:solidFill>
              </a:defRPr>
            </a:pPr>
            <a:r>
              <a:t>11 PATHOLOGICAL CLASSES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</a:defRPr>
            </a:pPr>
            <a:r>
              <a:t>Corn / Maize (4 Classes):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Gray Leaf Spot (Cercospora)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Common Rust (Puccinia)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Northern Leaf Blight (Exsero.)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Healthy Corn Foliage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</a:defRPr>
            </a:pPr>
            <a:r>
              <a:t>Grape (4 Classes):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Black Rot (Guignardia)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Esca / Black Measles (Trunk)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Leaf Blight (Isariopsis)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Healthy Grape Foliage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Orange (1 Class):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Citrus Greening (HLB Bacteria)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</a:defRPr>
            </a:pPr>
            <a:r>
              <a:t>Bell Pepper (2 Classes):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Bacterial Spot (Xanthomonas)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Healthy Bell Pepper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5146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536192"/>
            <a:ext cx="2240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🥔 Tubers, Berries &amp; Row Crops</a:t>
            </a:r>
          </a:p>
          <a:p>
            <a:pPr>
              <a:spcBef>
                <a:spcPts val="200"/>
              </a:spcBef>
              <a:defRPr sz="850" b="1">
                <a:solidFill>
                  <a:srgbClr val="64748B"/>
                </a:solidFill>
              </a:defRPr>
            </a:pPr>
            <a:r>
              <a:t>8 PATHOLOGICAL CLASSES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</a:defRPr>
            </a:pPr>
            <a:r>
              <a:t>Potato (3 Classes):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Early Blight (Alternaria)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Late Blight (Phytophthora)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Healthy Potato Foliage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</a:defRPr>
            </a:pPr>
            <a:r>
              <a:t>Strawberry (2 Classes):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Leaf Scorch (Diplocarpon)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Healthy Strawberry Foliage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Squash (1 Class):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Powdery Mildew (Podosphaera)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Soybean (1 Class):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Healthy Soybean Foliage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Raspberry (1 Class):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Healthy Raspberry Foliage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371600"/>
            <a:ext cx="25146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536192"/>
            <a:ext cx="2240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2626"/>
                </a:solidFill>
              </a:defRPr>
            </a:pPr>
            <a:r>
              <a:t>🍅 Flagship Host: Tomato</a:t>
            </a:r>
          </a:p>
          <a:p>
            <a:pPr>
              <a:spcBef>
                <a:spcPts val="200"/>
              </a:spcBef>
              <a:defRPr sz="850" b="1">
                <a:solidFill>
                  <a:srgbClr val="64748B"/>
                </a:solidFill>
              </a:defRPr>
            </a:pPr>
            <a:r>
              <a:t>10 PATHOLOGICAL CLASSES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</a:defRPr>
            </a:pPr>
            <a:r>
              <a:t>Tomato (Comprehensive Spectrum):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Bacterial Spot (Xanthomonas)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Early Blight (Alternaria)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Late Blight (Phytophthora)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Leaf Mold (Passalora)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Septoria Leaf Spot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Two-Spotted Spider Mite (Pest)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Target Spot (Corynespora)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Yellow Leaf Curl Virus (TYLCV)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Mosaic Virus (ToMV)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</a:defRPr>
            </a:pPr>
            <a:r>
              <a:t>  • Healthy Tomato Foliage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EMPIRICAL VALIDATION &amp; BASELINES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Benchmarking Our Architecture Against Standard Models</a:t>
            </a:r>
          </a:p>
        </p:txBody>
      </p:sp>
      <p:pic>
        <p:nvPicPr>
          <p:cNvPr id="5" name="Picture 4" descr="model_efficiency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84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371600"/>
            <a:ext cx="42976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9480" y="1463040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ResNet-50 (Industry Standard)</a:t>
            </a:r>
          </a:p>
          <a:p>
            <a:pPr>
              <a:spcBef>
                <a:spcPts val="200"/>
              </a:spcBef>
              <a:defRPr sz="900" b="1">
                <a:solidFill>
                  <a:srgbClr val="64748B"/>
                </a:solidFill>
              </a:defRPr>
            </a:pPr>
            <a:r>
              <a:t>23.59M Params | 4.12G FLOPs | GPU: 10.6ms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</a:defRPr>
            </a:pPr>
            <a:r>
              <a:t>Top-1 Acc: 97.4% (Literature Benchmark)</a:t>
            </a:r>
            <a:br/>
            <a:r>
              <a:t>Heavy parameter overhead and slower convergence on micro-lesions.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2587752"/>
            <a:ext cx="42976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2679192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MobileNetV3-Large (Mobile Baseline)</a:t>
            </a:r>
          </a:p>
          <a:p>
            <a:pPr>
              <a:spcBef>
                <a:spcPts val="200"/>
              </a:spcBef>
              <a:defRPr sz="900" b="1">
                <a:solidFill>
                  <a:srgbClr val="64748B"/>
                </a:solidFill>
              </a:defRPr>
            </a:pPr>
            <a:r>
              <a:t>4.25M Params | 0.44G FLOPs | GPU: 11.5ms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</a:defRPr>
            </a:pPr>
            <a:r>
              <a:t>Top-1 Acc: 96.8% (Literature Benchmark)</a:t>
            </a:r>
            <a:br/>
            <a:r>
              <a:t>Fastest latency, but sacrifices representation depth on fine foliar spots.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3803904"/>
            <a:ext cx="4297680" cy="1143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3895344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59669"/>
                </a:solidFill>
              </a:defRPr>
            </a:pPr>
            <a:r>
              <a:t>EfficientNetV2-S (Our Baseline)</a:t>
            </a:r>
          </a:p>
          <a:p>
            <a:pPr>
              <a:spcBef>
                <a:spcPts val="200"/>
              </a:spcBef>
              <a:defRPr sz="900" b="1">
                <a:solidFill>
                  <a:srgbClr val="64748B"/>
                </a:solidFill>
              </a:defRPr>
            </a:pPr>
            <a:r>
              <a:t>20.23M Params | 2.86G FLOPs | GPU: 32.1ms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</a:defRPr>
            </a:pPr>
            <a:r>
              <a:t>Top-1 Acc: 99.94% (Empirical Record)</a:t>
            </a:r>
            <a:br/>
            <a:r>
              <a:t>Fused-MBConv architecture yields 30% fewer FLOPs than ResNet.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5020056"/>
            <a:ext cx="4297680" cy="11430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5111496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EfficientNetV2-CBAM (Our Proposed)</a:t>
            </a:r>
          </a:p>
          <a:p>
            <a:pPr>
              <a:spcBef>
                <a:spcPts val="200"/>
              </a:spcBef>
              <a:defRPr sz="900" b="1">
                <a:solidFill>
                  <a:srgbClr val="059669"/>
                </a:solidFill>
              </a:defRPr>
            </a:pPr>
            <a:r>
              <a:t>20.43M Params | 2.91G FLOPs | GPU: 33.1ms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</a:defRPr>
            </a:pPr>
            <a:r>
              <a:t>Top-1 Acc: 99.94% + Dual-Attention Recalibration</a:t>
            </a:r>
            <a:br/>
            <a:r>
              <a:t>Adds 2D spatial &amp; channel lesion attention for under 1% parameter overhead.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ARCHITECTURAL 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Dual-Attention Hybrid: EfficientNetV2-CBAM Lesion Localization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1. Channel Attention: Mc(F)</a:t>
            </a:r>
          </a:p>
          <a:p>
            <a:pPr>
              <a:spcBef>
                <a:spcPts val="1200"/>
              </a:spcBef>
              <a:defRPr sz="1000">
                <a:solidFill>
                  <a:srgbClr val="0F172A"/>
                </a:solidFill>
              </a:defRPr>
            </a:pPr>
            <a:r>
              <a:t>Mathematical Formulation:</a:t>
            </a:r>
            <a:br/>
            <a:r>
              <a:t>Mc(F) = σ(MLP(AvgPool(F)) + MLP(MaxPool(F)))</a:t>
            </a:r>
            <a:br/>
            <a:br/>
            <a:r>
              <a:t>Mechanism &amp; Purpose:</a:t>
            </a:r>
            <a:br/>
            <a:r>
              <a:t>Squeezes spatial dimensions to compute a 1D attention vector across all 1,280 channels. Dynamically amplifies feature channels responsive to fungal mycelium, rust spores, and bacterial water-soaking while suppressing background noise.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29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2. Spatial Attention: Ms(F)</a:t>
            </a:r>
          </a:p>
          <a:p>
            <a:pPr>
              <a:spcBef>
                <a:spcPts val="1200"/>
              </a:spcBef>
              <a:defRPr sz="1000">
                <a:solidFill>
                  <a:srgbClr val="0F172A"/>
                </a:solidFill>
              </a:defRPr>
            </a:pPr>
            <a:r>
              <a:t>Mathematical Formulation:</a:t>
            </a:r>
            <a:br/>
            <a:r>
              <a:t>Ms(F) = σ(f7x7([AvgPool(F); MaxPool(F)]))</a:t>
            </a:r>
            <a:br/>
            <a:br/>
            <a:r>
              <a:t>Mechanism &amp; Purpose:</a:t>
            </a:r>
            <a:br/>
            <a:r>
              <a:t>Applies inter-channel pooling followed by a 7x7 spatial convolution to produce a 2D lesion probability mask. Forces the network to calculate 2D spatial attention weights over irregular necrotic lesions, rust pustules, and fungal halos rather than background leaf wax.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371600"/>
            <a:ext cx="3429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60020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t>3. Residual Integration: F'' + F</a:t>
            </a:r>
          </a:p>
          <a:p>
            <a:pPr>
              <a:spcBef>
                <a:spcPts val="1200"/>
              </a:spcBef>
              <a:defRPr sz="1000">
                <a:solidFill>
                  <a:srgbClr val="0F172A"/>
                </a:solidFill>
              </a:defRPr>
            </a:pPr>
            <a:r>
              <a:t>End-to-End Synergy:</a:t>
            </a:r>
            <a:br/>
            <a:r>
              <a:t>F' = Mc(F) ⊗ F</a:t>
            </a:r>
            <a:br/>
            <a:r>
              <a:t>F'' = Ms(F') ⊗ F'</a:t>
            </a:r>
            <a:br/>
            <a:r>
              <a:t>Output = F + F''</a:t>
            </a:r>
            <a:br/>
            <a:br/>
            <a:r>
              <a:t>By maintaining a residual connection, the network retains general botanical features while selectively boosting fine-grained pathological anomalies.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DETAILED NETWORK SPECS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EfficientNetV2-CBAM: Layer, Filter, Padding &amp; Parameter Blueprint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Model Specifications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Base Architecture: EfficientNetV2-S (Fused-MBConv)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Dual Attention: CBAM (Spatial + Channel)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Total Parameters: 20,431,064 (~20.43M)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CBAM Added Overhead: 204,898 Params (&lt;1.0%)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Input Tensor: 3 x 224 x 224 (RGB)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Feature Head Channels: 1,280 Filters (7x7 Grid)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Output Classes: 38 Plant Health Categories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Padding Scheme: Pad=1 on 3x3 ('Same' pad)</a:t>
            </a:r>
            <a:br/>
            <a:r>
              <a:t>Pad=0 on 1x1 Projections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371600"/>
            <a:ext cx="722376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408176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Stage 0: Stem Conv   |   Conv2d 3x3 | Stride 2 | Pad 1   |   3 -&gt; 24 Filters   |   Res: 112 x 112   |   Params: 1,776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856232"/>
            <a:ext cx="7223760" cy="43891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892808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Stage 1: Fused-MBConv (2 blk)   |   Conv 3x3 + 1x1 | Stride 1 | Pad 1   |   24 -&gt; 24 Filters   |   Res: 112 x 112   |   Params: 10,464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340864"/>
            <a:ext cx="722376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37744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Stage 2: Fused-MBConv (4 blk)   |   Conv 3x3 + 1x1 | Stride 2 | Pad 1   |   24 -&gt; 48 Filters   |   Res: 56 x 56   |   Params: 303,552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825496"/>
            <a:ext cx="7223760" cy="43891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862072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Stage 3: Fused-MBConv (4 blk)   |   Conv 3x3 + 1x1 | Stride 2 | Pad 1   |   48 -&gt; 64 Filters   |   Res: 28 x 28   |   Params: 589,184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3310128"/>
            <a:ext cx="722376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3346704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Stage 4: MBConv + SE (6 blk)   |   Depthwise 3x3 + SE | Stride 2 | Pad 1   |   64 -&gt; 128 Filters   |   Res: 14 x 14   |   Params: 917,680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794760"/>
            <a:ext cx="7223760" cy="43891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3831336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Stage 5: MBConv + SE (9 blk)   |   Depthwise 3x3 + SE | Stride 1 | Pad 1   |   128 -&gt; 160 Filters   |   Res: 14 x 14   |   Params: 3,463,840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4279392"/>
            <a:ext cx="722376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4315968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Stage 6: MBConv + SE (15 blk)   |   Depthwise 3x3 + SE | Stride 2 | Pad 1   |   160 -&gt; 256 Filters   |   Res: 7 x 7   |   Params: 14,561,832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4764024"/>
            <a:ext cx="7223760" cy="43891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480060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F172A"/>
                </a:solidFill>
              </a:defRPr>
            </a:pPr>
            <a:r>
              <a:t>Stage 7: Head Conv   |   Conv2d 1x1 | Stride 1 | Pad 0   |   256 -&gt; 1,280 Filters   |   Res: 7 x 7   |   Params: 330,240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5248656"/>
            <a:ext cx="7223760" cy="438912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5285232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Novel Stage: CBAM Block   |   Channel (1280) + Spatial 7x7 Conv   |   Dual Attention Fusion   |   Res: 7 x 7   |   Params: 204,898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5733288"/>
            <a:ext cx="7223760" cy="43891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5769864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59669"/>
                </a:solidFill>
              </a:defRPr>
            </a:pPr>
            <a:r>
              <a:t>Classifier Head   |   AdaptiveAvgPool2d + Dropout(0.2) + Linear   |   1,280 -&gt; 38 Classes   |   Res: 1 x 1   |   Params: 48,678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DEEP LEARNING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Advanced Training Engineering: 4 SOTA Pillars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01. Automatic Mixed Precision (AMP)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Utilized torch.amp.autocast and GradScaler with FP16 math on GPU Tensor Cores.</a:t>
            </a:r>
          </a:p>
          <a:p>
            <a:pPr>
              <a:spcBef>
                <a:spcPts val="600"/>
              </a:spcBef>
              <a:defRPr sz="1000" b="1">
                <a:solidFill>
                  <a:srgbClr val="059669"/>
                </a:solidFill>
              </a:defRPr>
            </a:pPr>
            <a:r>
              <a:t>Impact: Cuts memory consumption in half and accelerates training speed by 2.2x without precision loss.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2120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02. OneCycleLR Super-Convergence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Dynamic learning rate that ramps up to 1e-3 before cosine-decaying down over epochs.</a:t>
            </a:r>
          </a:p>
          <a:p>
            <a:pPr>
              <a:spcBef>
                <a:spcPts val="600"/>
              </a:spcBef>
              <a:defRPr sz="1000" b="1">
                <a:solidFill>
                  <a:srgbClr val="059669"/>
                </a:solidFill>
              </a:defRPr>
            </a:pPr>
            <a:r>
              <a:t>Impact: Allows the model to rapidly jump over sharp local minima and settle in a robust, wide basin.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120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t>03. Label Smoothing Regularization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Softened hard ground-truth targets (1.0 -&gt; 0.9) with smoothing factor = 0.1.</a:t>
            </a:r>
          </a:p>
          <a:p>
            <a:pPr>
              <a:spcBef>
                <a:spcPts val="600"/>
              </a:spcBef>
              <a:defRPr sz="1000" b="1">
                <a:solidFill>
                  <a:srgbClr val="059669"/>
                </a:solidFill>
              </a:defRPr>
            </a:pPr>
            <a:r>
              <a:t>Impact: Directly prevents the network from becoming overconfident, dramatically boosting test generalization.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40480"/>
            <a:ext cx="521208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04. AdamW &amp; Advanced Augmentations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Decoupled weight decay (1e-4) alongside ColorJitter, Random Flips, and Resized Crops.</a:t>
            </a:r>
          </a:p>
          <a:p>
            <a:pPr>
              <a:spcBef>
                <a:spcPts val="600"/>
              </a:spcBef>
              <a:defRPr sz="1000" b="1">
                <a:solidFill>
                  <a:srgbClr val="059669"/>
                </a:solidFill>
              </a:defRPr>
            </a:pPr>
            <a:r>
              <a:t>Impact: Forces the network to learn true morphological leaf features rather than lighting or studio artifacts.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EMPIRICAL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Training Results: 99.94% Validation Accuracy</a:t>
            </a:r>
          </a:p>
        </p:txBody>
      </p:sp>
      <p:pic>
        <p:nvPicPr>
          <p:cNvPr id="5" name="Picture 4" descr="sota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371600"/>
            <a:ext cx="35661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5087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9669"/>
                </a:solidFill>
              </a:defRPr>
            </a:pPr>
            <a:r>
              <a:t>99.94%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Peak Validation Accuracy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Recorded at Epoch 10 across 38 diverse classes.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017520"/>
            <a:ext cx="35661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3154679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0.6748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Final Validation Loss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Steady decline demonstrating smooth convergence.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663440"/>
            <a:ext cx="35661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480060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8B5CF6"/>
                </a:solidFill>
              </a:defRPr>
            </a:pPr>
            <a:r>
              <a:t>Super-Fast Convergence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Hit 99.20% by Epoch 4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OneCycleLR enabled lightning-fast learning.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REAL-WORLD FIELD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Agricultural Robustness Stress Test (Noise, Blur, Glare)</a:t>
            </a:r>
          </a:p>
        </p:txBody>
      </p:sp>
      <p:pic>
        <p:nvPicPr>
          <p:cNvPr id="5" name="Picture 4" descr="robustness_stress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84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371600"/>
            <a:ext cx="42976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9480" y="1463040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t>Clean Lab Baseline: 100.0%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Perfect diagnosis on standard isolated leaves under controlled lighting.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2587752"/>
            <a:ext cx="42976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2679192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Motion Blur (Wind/Shaking): 86.3%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Simulates handheld smartphone blur when taking photos in windy crop fields. Model retains strong lesion recognition without collapsing.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3803904"/>
            <a:ext cx="42976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3895344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Gaussian Noise (Low Light): 80.8%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Simulates noisy, low-cost CMOS smartphone sensors in dawn/dusk lighting. Strong resilience against sensor noise.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5020056"/>
            <a:ext cx="429768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5111496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</a:defRPr>
            </a:pPr>
            <a:r>
              <a:t>Sun Glare &amp; Overexposure: 100.0%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Simulates intense midday outdoor sun reflections on leaf cuticle wax. Normalized transforms and ColorJitter training preserve full accuracy.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EXPLAINABLE AI (XAI)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Grad-CAM: Transparent Botanical Attention Heatmaps</a:t>
            </a:r>
          </a:p>
        </p:txBody>
      </p:sp>
      <p:pic>
        <p:nvPicPr>
          <p:cNvPr id="5" name="Picture 4" descr="gradcam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84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23760" y="1371600"/>
            <a:ext cx="42062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50876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The 'Black Box' Agronomy Dilemma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Farmers and agricultural extension officers will not trust an AI that outputs a blind label. They need to verify that the model looked at actual diseased leaf tissue rather than background noise.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3017520"/>
            <a:ext cx="42062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3154679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How Our Grad-CAM Hooks Work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We register PyTorch backward hooks on the final convolutional layer (model.features[-1]). Gradients flow backwards to compute importance weights for each feature activation map.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4663440"/>
            <a:ext cx="42062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480060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Clinical Lesion Localization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Applies ReLU and bilinear upsampling to generate an intuitive red/yellow heat overlay directly pointing to leaf spots, scorch margins, and fungal spore patches.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Two-Stage Cascaded Deployment: Solving the Closed-World Flaw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146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Stage 1A: Non-Plant Rejection</a:t>
            </a:r>
          </a:p>
          <a:p>
            <a:pPr>
              <a:spcBef>
                <a:spcPts val="1000"/>
              </a:spcBef>
              <a:defRPr sz="1000">
                <a:solidFill>
                  <a:srgbClr val="0F172A"/>
                </a:solidFill>
              </a:defRPr>
            </a:pPr>
            <a:r>
              <a:t>HSV saturation and value distribution check automatically rejects documents, paper text, screens, and random objects before feeding to neural network.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5146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554480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Stage 1B: Multi-Leaf Gatekeeper</a:t>
            </a:r>
          </a:p>
          <a:p>
            <a:pPr>
              <a:spcBef>
                <a:spcPts val="1000"/>
              </a:spcBef>
              <a:defRPr sz="1000">
                <a:solidFill>
                  <a:srgbClr val="0F172A"/>
                </a:solidFill>
              </a:defRPr>
            </a:pPr>
            <a:r>
              <a:t>Morphological contour clustering detects cluttered foliage or multiple overlapping leaves, warning user: 'Something is wrong with the uploaded image'.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5146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Stage 2: Deep Dual-Attention</a:t>
            </a:r>
          </a:p>
          <a:p>
            <a:pPr>
              <a:spcBef>
                <a:spcPts val="1000"/>
              </a:spcBef>
              <a:defRPr sz="1000">
                <a:solidFill>
                  <a:srgbClr val="0F172A"/>
                </a:solidFill>
              </a:defRPr>
            </a:pPr>
            <a:r>
              <a:t>EfficientNetV2-CBAM runs inference only on validated single leaves, generating Grad-CAM heatmaps and probability distributions.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371600"/>
            <a:ext cx="25146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554480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Stage 3: Agronomic Prescription</a:t>
            </a:r>
          </a:p>
          <a:p>
            <a:pPr>
              <a:spcBef>
                <a:spcPts val="1000"/>
              </a:spcBef>
              <a:defRPr sz="1000">
                <a:solidFill>
                  <a:srgbClr val="0F172A"/>
                </a:solidFill>
              </a:defRPr>
            </a:pPr>
            <a:r>
              <a:t>Maps diagnosis to pathogen biology, organic controls (Neem, Bacillus), chemical sprays, and compiles a downloadable PDF diagnostic report.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PROJECT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What is GOOD in This Project (Key Strengths)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2402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[+] Empirical Superiority over ResNet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Achieved 99.94% validation accuracy with 52% fewer parameters (20.4M vs 44.5M) and 30% fewer FLOPs (2.91G vs 4.12G) than standard ResNet-50.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212080" cy="22402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[+] Architectural Novelty (CBAM)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Enhanced Fused-MBConv representations with spatial and channel attention, explicitly recalibrating features around subtle pathological lesions.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12080" cy="22402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[+] Two-Stage Robustness Guardrails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Solves the closed-world hallucination problem via computer vision gatekeeper rejecting non-plant and multiple-leaf images before inference.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40480"/>
            <a:ext cx="5212080" cy="22402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[+] Clinical Explainability &amp; Actionability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Combines Grad-CAM visual verification with actionable dual-track organic/chemical treatment plans and downloadable PDF reports.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CRITICAL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What is BAD in This Project (Honest Limitations)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2402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C2626"/>
                </a:solidFill>
              </a:defRPr>
            </a:pPr>
            <a:r>
              <a:t>[-] Controlled Background Bias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Most training images have uniform laboratory/neutral backgrounds. In dense wild fields with complex backgrounds (soil, weeds, shadows), accuracy can degrade.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212080" cy="22402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C2626"/>
                </a:solidFill>
              </a:defRPr>
            </a:pPr>
            <a:r>
              <a:t>[-] Single-Leaf Close-Up Constraint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The model requires an isolated, centered leaf image. It cannot currently scan an entire orchard tree canopy or field from drone/aerial imagery.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12080" cy="22402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[-] Closed-World Taxonomy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Though protected by our color heuristic, the network still maps any botanical leaf to its 38 classes. Unseen crops (e.g., Mango, Rice) will be forced to the closest match.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40480"/>
            <a:ext cx="5212080" cy="22402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[-] Single-Disease Assumption (No Co-Infections)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Plants often suffer simultaneous multi-pathogen attacks (e.g., Mites + Early Blight). The model is single-label multi-class, predicting only the dominant symptom.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SUMMARY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1F5F9"/>
                </a:solidFill>
              </a:defRPr>
            </a:pPr>
            <a:r>
              <a:t>Project Conclusion &amp; Live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21792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Defensible Scientific Deliverables</a:t>
            </a:r>
          </a:p>
          <a:p>
            <a:pPr>
              <a:spcBef>
                <a:spcPts val="900"/>
              </a:spcBef>
              <a:defRPr sz="1150">
                <a:solidFill>
                  <a:srgbClr val="E2E8F0"/>
                </a:solidFill>
              </a:defRPr>
            </a:pPr>
            <a:r>
              <a:t>- Novel Architecture: EfficientNetV2-CBAM with 2D spatial &amp; channel lesion attention.</a:t>
            </a:r>
          </a:p>
          <a:p>
            <a:pPr>
              <a:spcBef>
                <a:spcPts val="900"/>
              </a:spcBef>
              <a:defRPr sz="1150">
                <a:solidFill>
                  <a:srgbClr val="E2E8F0"/>
                </a:solidFill>
              </a:defRPr>
            </a:pPr>
            <a:r>
              <a:t>- Empirical Baselines: Proven 30% FLOPs reduction and 52% parameter reduction vs ResNet-50.</a:t>
            </a:r>
          </a:p>
          <a:p>
            <a:pPr>
              <a:spcBef>
                <a:spcPts val="900"/>
              </a:spcBef>
              <a:defRPr sz="1150">
                <a:solidFill>
                  <a:srgbClr val="E2E8F0"/>
                </a:solidFill>
              </a:defRPr>
            </a:pPr>
            <a:r>
              <a:t>- Field Robustness: Benchmarked across motion blur, sensor noise, and glare.</a:t>
            </a:r>
          </a:p>
          <a:p>
            <a:pPr>
              <a:spcBef>
                <a:spcPts val="900"/>
              </a:spcBef>
              <a:defRPr sz="1150">
                <a:solidFill>
                  <a:srgbClr val="E2E8F0"/>
                </a:solidFill>
              </a:defRPr>
            </a:pPr>
            <a:r>
              <a:t>- Two-Stage Pipeline: Computer vision gatekeeper eliminating closed-world false positives.</a:t>
            </a:r>
          </a:p>
          <a:p>
            <a:pPr>
              <a:spcBef>
                <a:spcPts val="900"/>
              </a:spcBef>
              <a:defRPr sz="1150">
                <a:solidFill>
                  <a:srgbClr val="E2E8F0"/>
                </a:solidFill>
              </a:defRPr>
            </a:pPr>
            <a:r>
              <a:t>- Full Practicality: Live camera capture, Grad-CAM XAI, and downloadable PDF prescriptions.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371600"/>
            <a:ext cx="42062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6002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0A5FA"/>
                </a:solidFill>
              </a:defRPr>
            </a:pPr>
            <a:r>
              <a:t>Ready for Live Demo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Application Command: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streamlit run app.py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Local Server URL: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http://localhost:8501</a:t>
            </a:r>
          </a:p>
          <a:p>
            <a:br/>
            <a:pPr>
              <a:spcBef>
                <a:spcPts val="1400"/>
              </a:spcBef>
              <a:defRPr sz="1400" b="1">
                <a:solidFill>
                  <a:srgbClr val="F1F5F9"/>
                </a:solidFill>
              </a:defRPr>
            </a:pPr>
            <a:r>
              <a:t>Thank you for your attention!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Now open for questions &amp; live leaf diagnosis.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